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71" r:id="rId13"/>
    <p:sldId id="267" r:id="rId14"/>
    <p:sldId id="268" r:id="rId15"/>
    <p:sldId id="269" r:id="rId16"/>
    <p:sldId id="270" r:id="rId17"/>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E23541-0B88-4C7F-B561-BD5411057087}" v="13" dt="2026-01-20T06:40:10.7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8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onid Zinin" userId="115e68ea7e67e28d" providerId="LiveId" clId="{D55254AE-1140-47E7-9265-D9705105B927}"/>
    <pc:docChg chg="custSel modSld">
      <pc:chgData name="Leonid Zinin" userId="115e68ea7e67e28d" providerId="LiveId" clId="{D55254AE-1140-47E7-9265-D9705105B927}" dt="2026-01-20T06:40:10.709" v="14" actId="20577"/>
      <pc:docMkLst>
        <pc:docMk/>
      </pc:docMkLst>
      <pc:sldChg chg="modSp mod">
        <pc:chgData name="Leonid Zinin" userId="115e68ea7e67e28d" providerId="LiveId" clId="{D55254AE-1140-47E7-9265-D9705105B927}" dt="2026-01-20T06:40:10.709" v="14" actId="20577"/>
        <pc:sldMkLst>
          <pc:docMk/>
          <pc:sldMk cId="1956865949" sldId="264"/>
        </pc:sldMkLst>
        <pc:spChg chg="mod">
          <ac:chgData name="Leonid Zinin" userId="115e68ea7e67e28d" providerId="LiveId" clId="{D55254AE-1140-47E7-9265-D9705105B927}" dt="2026-01-20T06:40:10.709" v="14" actId="20577"/>
          <ac:spMkLst>
            <pc:docMk/>
            <pc:sldMk cId="1956865949" sldId="264"/>
            <ac:spMk id="2" creationId="{A49B585C-5635-463A-A201-4D3D6C43FB8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6E1D03F-950F-4BC5-B8E7-E62FBE16312B}"/>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14FC814E-0D1F-4455-945A-6DFF32EC65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F49ADEE8-C50E-48D2-B2EA-03DBA222B86E}"/>
              </a:ext>
            </a:extLst>
          </p:cNvPr>
          <p:cNvSpPr>
            <a:spLocks noGrp="1"/>
          </p:cNvSpPr>
          <p:nvPr>
            <p:ph type="dt" sz="half" idx="10"/>
          </p:nvPr>
        </p:nvSpPr>
        <p:spPr/>
        <p:txBody>
          <a:bodyPr/>
          <a:lstStyle/>
          <a:p>
            <a:fld id="{4888FAD9-C4E3-468C-86DD-2C8417BF9355}" type="datetimeFigureOut">
              <a:rPr lang="ru-RU" smtClean="0"/>
              <a:t>20.01.2026</a:t>
            </a:fld>
            <a:endParaRPr lang="ru-RU"/>
          </a:p>
        </p:txBody>
      </p:sp>
      <p:sp>
        <p:nvSpPr>
          <p:cNvPr id="5" name="Нижний колонтитул 4">
            <a:extLst>
              <a:ext uri="{FF2B5EF4-FFF2-40B4-BE49-F238E27FC236}">
                <a16:creationId xmlns:a16="http://schemas.microsoft.com/office/drawing/2014/main" id="{505C89BA-61A2-433D-A84A-E02A577DA689}"/>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03F2862B-F7F4-4EC6-A5D4-84F967CB0635}"/>
              </a:ext>
            </a:extLst>
          </p:cNvPr>
          <p:cNvSpPr>
            <a:spLocks noGrp="1"/>
          </p:cNvSpPr>
          <p:nvPr>
            <p:ph type="sldNum" sz="quarter" idx="12"/>
          </p:nvPr>
        </p:nvSpPr>
        <p:spPr/>
        <p:txBody>
          <a:bodyPr/>
          <a:lstStyle/>
          <a:p>
            <a:fld id="{00609292-1848-4D25-86A0-293B7CA835C3}" type="slidenum">
              <a:rPr lang="ru-RU" smtClean="0"/>
              <a:t>‹#›</a:t>
            </a:fld>
            <a:endParaRPr lang="ru-RU"/>
          </a:p>
        </p:txBody>
      </p:sp>
    </p:spTree>
    <p:extLst>
      <p:ext uri="{BB962C8B-B14F-4D97-AF65-F5344CB8AC3E}">
        <p14:creationId xmlns:p14="http://schemas.microsoft.com/office/powerpoint/2010/main" val="3419699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93493D-E18F-4F08-8520-F76D7D510973}"/>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5320D960-F11F-4019-8EB7-78E111122CB7}"/>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0E6DD845-DC42-422F-AA47-DF1ECC501E77}"/>
              </a:ext>
            </a:extLst>
          </p:cNvPr>
          <p:cNvSpPr>
            <a:spLocks noGrp="1"/>
          </p:cNvSpPr>
          <p:nvPr>
            <p:ph type="dt" sz="half" idx="10"/>
          </p:nvPr>
        </p:nvSpPr>
        <p:spPr/>
        <p:txBody>
          <a:bodyPr/>
          <a:lstStyle/>
          <a:p>
            <a:fld id="{4888FAD9-C4E3-468C-86DD-2C8417BF9355}" type="datetimeFigureOut">
              <a:rPr lang="ru-RU" smtClean="0"/>
              <a:t>20.01.2026</a:t>
            </a:fld>
            <a:endParaRPr lang="ru-RU"/>
          </a:p>
        </p:txBody>
      </p:sp>
      <p:sp>
        <p:nvSpPr>
          <p:cNvPr id="5" name="Нижний колонтитул 4">
            <a:extLst>
              <a:ext uri="{FF2B5EF4-FFF2-40B4-BE49-F238E27FC236}">
                <a16:creationId xmlns:a16="http://schemas.microsoft.com/office/drawing/2014/main" id="{6ACB9712-1CB1-4BAC-BF94-D0C09538E2A2}"/>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CED93342-B3F3-4DFB-8117-645824D7372B}"/>
              </a:ext>
            </a:extLst>
          </p:cNvPr>
          <p:cNvSpPr>
            <a:spLocks noGrp="1"/>
          </p:cNvSpPr>
          <p:nvPr>
            <p:ph type="sldNum" sz="quarter" idx="12"/>
          </p:nvPr>
        </p:nvSpPr>
        <p:spPr/>
        <p:txBody>
          <a:bodyPr/>
          <a:lstStyle/>
          <a:p>
            <a:fld id="{00609292-1848-4D25-86A0-293B7CA835C3}" type="slidenum">
              <a:rPr lang="ru-RU" smtClean="0"/>
              <a:t>‹#›</a:t>
            </a:fld>
            <a:endParaRPr lang="ru-RU"/>
          </a:p>
        </p:txBody>
      </p:sp>
    </p:spTree>
    <p:extLst>
      <p:ext uri="{BB962C8B-B14F-4D97-AF65-F5344CB8AC3E}">
        <p14:creationId xmlns:p14="http://schemas.microsoft.com/office/powerpoint/2010/main" val="1088088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5370A30-69D2-485D-880B-5E35C570C66F}"/>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9F93A2FC-2CAA-472D-BDF6-0820DD10DE2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0A176B6C-1A67-4D39-81E2-629A08BBA3F9}"/>
              </a:ext>
            </a:extLst>
          </p:cNvPr>
          <p:cNvSpPr>
            <a:spLocks noGrp="1"/>
          </p:cNvSpPr>
          <p:nvPr>
            <p:ph type="dt" sz="half" idx="10"/>
          </p:nvPr>
        </p:nvSpPr>
        <p:spPr/>
        <p:txBody>
          <a:bodyPr/>
          <a:lstStyle/>
          <a:p>
            <a:fld id="{4888FAD9-C4E3-468C-86DD-2C8417BF9355}" type="datetimeFigureOut">
              <a:rPr lang="ru-RU" smtClean="0"/>
              <a:t>20.01.2026</a:t>
            </a:fld>
            <a:endParaRPr lang="ru-RU"/>
          </a:p>
        </p:txBody>
      </p:sp>
      <p:sp>
        <p:nvSpPr>
          <p:cNvPr id="5" name="Нижний колонтитул 4">
            <a:extLst>
              <a:ext uri="{FF2B5EF4-FFF2-40B4-BE49-F238E27FC236}">
                <a16:creationId xmlns:a16="http://schemas.microsoft.com/office/drawing/2014/main" id="{B7412CB3-F9C7-4FFC-B6ED-02824197E1F8}"/>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0B201ABA-9E07-45F4-9C61-D4F4362BBF60}"/>
              </a:ext>
            </a:extLst>
          </p:cNvPr>
          <p:cNvSpPr>
            <a:spLocks noGrp="1"/>
          </p:cNvSpPr>
          <p:nvPr>
            <p:ph type="sldNum" sz="quarter" idx="12"/>
          </p:nvPr>
        </p:nvSpPr>
        <p:spPr/>
        <p:txBody>
          <a:bodyPr/>
          <a:lstStyle/>
          <a:p>
            <a:fld id="{00609292-1848-4D25-86A0-293B7CA835C3}" type="slidenum">
              <a:rPr lang="ru-RU" smtClean="0"/>
              <a:t>‹#›</a:t>
            </a:fld>
            <a:endParaRPr lang="ru-RU"/>
          </a:p>
        </p:txBody>
      </p:sp>
    </p:spTree>
    <p:extLst>
      <p:ext uri="{BB962C8B-B14F-4D97-AF65-F5344CB8AC3E}">
        <p14:creationId xmlns:p14="http://schemas.microsoft.com/office/powerpoint/2010/main" val="41096662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90D33D6-9D10-4C06-81AA-231A7235F2CC}"/>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BF3CD693-5E43-471E-87D6-0053BD091690}"/>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98210A32-9F3D-443C-ACE0-30A5B645F532}"/>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E3519A40-E988-4AD5-9CAA-7CA08535250B}"/>
              </a:ext>
            </a:extLst>
          </p:cNvPr>
          <p:cNvSpPr>
            <a:spLocks noGrp="1"/>
          </p:cNvSpPr>
          <p:nvPr>
            <p:ph type="dt" sz="half" idx="10"/>
          </p:nvPr>
        </p:nvSpPr>
        <p:spPr/>
        <p:txBody>
          <a:bodyPr/>
          <a:lstStyle/>
          <a:p>
            <a:fld id="{4888FAD9-C4E3-468C-86DD-2C8417BF9355}" type="datetimeFigureOut">
              <a:rPr lang="ru-RU" smtClean="0"/>
              <a:t>20.01.2026</a:t>
            </a:fld>
            <a:endParaRPr lang="ru-RU"/>
          </a:p>
        </p:txBody>
      </p:sp>
      <p:sp>
        <p:nvSpPr>
          <p:cNvPr id="6" name="Нижний колонтитул 5">
            <a:extLst>
              <a:ext uri="{FF2B5EF4-FFF2-40B4-BE49-F238E27FC236}">
                <a16:creationId xmlns:a16="http://schemas.microsoft.com/office/drawing/2014/main" id="{FCA01C99-E47B-4F4D-BA6F-8CA6B184A07D}"/>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D66259B4-FC4D-449E-9132-4102A43835AC}"/>
              </a:ext>
            </a:extLst>
          </p:cNvPr>
          <p:cNvSpPr>
            <a:spLocks noGrp="1"/>
          </p:cNvSpPr>
          <p:nvPr>
            <p:ph type="sldNum" sz="quarter" idx="12"/>
          </p:nvPr>
        </p:nvSpPr>
        <p:spPr/>
        <p:txBody>
          <a:bodyPr/>
          <a:lstStyle/>
          <a:p>
            <a:fld id="{00609292-1848-4D25-86A0-293B7CA835C3}" type="slidenum">
              <a:rPr lang="ru-RU" smtClean="0"/>
              <a:t>‹#›</a:t>
            </a:fld>
            <a:endParaRPr lang="ru-RU"/>
          </a:p>
        </p:txBody>
      </p:sp>
    </p:spTree>
    <p:extLst>
      <p:ext uri="{BB962C8B-B14F-4D97-AF65-F5344CB8AC3E}">
        <p14:creationId xmlns:p14="http://schemas.microsoft.com/office/powerpoint/2010/main" val="33774217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5E87525-D027-4990-9CC5-208BF677AE07}"/>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FB43A444-1A75-4790-8C13-595D51CD61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B8DBC989-869F-4E64-B6C3-48130FCF7913}"/>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77C81E43-1921-4C1C-B81C-6FAA7DA9A9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D2F806A8-6337-474D-A84D-0E00801E5EBF}"/>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BFC94485-118E-44B8-9500-BADB2F85BECD}"/>
              </a:ext>
            </a:extLst>
          </p:cNvPr>
          <p:cNvSpPr>
            <a:spLocks noGrp="1"/>
          </p:cNvSpPr>
          <p:nvPr>
            <p:ph type="dt" sz="half" idx="10"/>
          </p:nvPr>
        </p:nvSpPr>
        <p:spPr/>
        <p:txBody>
          <a:bodyPr/>
          <a:lstStyle/>
          <a:p>
            <a:fld id="{4888FAD9-C4E3-468C-86DD-2C8417BF9355}" type="datetimeFigureOut">
              <a:rPr lang="ru-RU" smtClean="0"/>
              <a:t>20.01.2026</a:t>
            </a:fld>
            <a:endParaRPr lang="ru-RU"/>
          </a:p>
        </p:txBody>
      </p:sp>
      <p:sp>
        <p:nvSpPr>
          <p:cNvPr id="8" name="Нижний колонтитул 7">
            <a:extLst>
              <a:ext uri="{FF2B5EF4-FFF2-40B4-BE49-F238E27FC236}">
                <a16:creationId xmlns:a16="http://schemas.microsoft.com/office/drawing/2014/main" id="{AFE886B7-FEA1-4725-B5D3-EEF3F4CBDED4}"/>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959655BB-1BA9-4D52-88DD-2F9B9C064DE5}"/>
              </a:ext>
            </a:extLst>
          </p:cNvPr>
          <p:cNvSpPr>
            <a:spLocks noGrp="1"/>
          </p:cNvSpPr>
          <p:nvPr>
            <p:ph type="sldNum" sz="quarter" idx="12"/>
          </p:nvPr>
        </p:nvSpPr>
        <p:spPr/>
        <p:txBody>
          <a:bodyPr/>
          <a:lstStyle/>
          <a:p>
            <a:fld id="{00609292-1848-4D25-86A0-293B7CA835C3}" type="slidenum">
              <a:rPr lang="ru-RU" smtClean="0"/>
              <a:t>‹#›</a:t>
            </a:fld>
            <a:endParaRPr lang="ru-RU"/>
          </a:p>
        </p:txBody>
      </p:sp>
    </p:spTree>
    <p:extLst>
      <p:ext uri="{BB962C8B-B14F-4D97-AF65-F5344CB8AC3E}">
        <p14:creationId xmlns:p14="http://schemas.microsoft.com/office/powerpoint/2010/main" val="2257995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ADCEE01-D024-414A-8B4B-522F77C8D9E7}"/>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1233035F-B472-4730-8781-2936D3BDBA0B}"/>
              </a:ext>
            </a:extLst>
          </p:cNvPr>
          <p:cNvSpPr>
            <a:spLocks noGrp="1"/>
          </p:cNvSpPr>
          <p:nvPr>
            <p:ph type="dt" sz="half" idx="10"/>
          </p:nvPr>
        </p:nvSpPr>
        <p:spPr/>
        <p:txBody>
          <a:bodyPr/>
          <a:lstStyle/>
          <a:p>
            <a:fld id="{4888FAD9-C4E3-468C-86DD-2C8417BF9355}" type="datetimeFigureOut">
              <a:rPr lang="ru-RU" smtClean="0"/>
              <a:t>20.01.2026</a:t>
            </a:fld>
            <a:endParaRPr lang="ru-RU"/>
          </a:p>
        </p:txBody>
      </p:sp>
      <p:sp>
        <p:nvSpPr>
          <p:cNvPr id="4" name="Нижний колонтитул 3">
            <a:extLst>
              <a:ext uri="{FF2B5EF4-FFF2-40B4-BE49-F238E27FC236}">
                <a16:creationId xmlns:a16="http://schemas.microsoft.com/office/drawing/2014/main" id="{042F37E3-3F7A-4255-97AA-CBCA410461DA}"/>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DF4BD43D-08F3-4FE6-8F56-6D27F3D744B1}"/>
              </a:ext>
            </a:extLst>
          </p:cNvPr>
          <p:cNvSpPr>
            <a:spLocks noGrp="1"/>
          </p:cNvSpPr>
          <p:nvPr>
            <p:ph type="sldNum" sz="quarter" idx="12"/>
          </p:nvPr>
        </p:nvSpPr>
        <p:spPr/>
        <p:txBody>
          <a:bodyPr/>
          <a:lstStyle/>
          <a:p>
            <a:fld id="{00609292-1848-4D25-86A0-293B7CA835C3}" type="slidenum">
              <a:rPr lang="ru-RU" smtClean="0"/>
              <a:t>‹#›</a:t>
            </a:fld>
            <a:endParaRPr lang="ru-RU"/>
          </a:p>
        </p:txBody>
      </p:sp>
    </p:spTree>
    <p:extLst>
      <p:ext uri="{BB962C8B-B14F-4D97-AF65-F5344CB8AC3E}">
        <p14:creationId xmlns:p14="http://schemas.microsoft.com/office/powerpoint/2010/main" val="2593166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42BDB24D-1549-48CC-9791-3305179E5F05}"/>
              </a:ext>
            </a:extLst>
          </p:cNvPr>
          <p:cNvSpPr>
            <a:spLocks noGrp="1"/>
          </p:cNvSpPr>
          <p:nvPr>
            <p:ph type="dt" sz="half" idx="10"/>
          </p:nvPr>
        </p:nvSpPr>
        <p:spPr/>
        <p:txBody>
          <a:bodyPr/>
          <a:lstStyle/>
          <a:p>
            <a:fld id="{4888FAD9-C4E3-468C-86DD-2C8417BF9355}" type="datetimeFigureOut">
              <a:rPr lang="ru-RU" smtClean="0"/>
              <a:t>20.01.2026</a:t>
            </a:fld>
            <a:endParaRPr lang="ru-RU"/>
          </a:p>
        </p:txBody>
      </p:sp>
      <p:sp>
        <p:nvSpPr>
          <p:cNvPr id="3" name="Нижний колонтитул 2">
            <a:extLst>
              <a:ext uri="{FF2B5EF4-FFF2-40B4-BE49-F238E27FC236}">
                <a16:creationId xmlns:a16="http://schemas.microsoft.com/office/drawing/2014/main" id="{C0B82C58-0F81-4B3B-9E73-B323F67CF5DB}"/>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610BBAF2-9BD8-4484-8B96-5AC430867D1A}"/>
              </a:ext>
            </a:extLst>
          </p:cNvPr>
          <p:cNvSpPr>
            <a:spLocks noGrp="1"/>
          </p:cNvSpPr>
          <p:nvPr>
            <p:ph type="sldNum" sz="quarter" idx="12"/>
          </p:nvPr>
        </p:nvSpPr>
        <p:spPr/>
        <p:txBody>
          <a:bodyPr/>
          <a:lstStyle/>
          <a:p>
            <a:fld id="{00609292-1848-4D25-86A0-293B7CA835C3}" type="slidenum">
              <a:rPr lang="ru-RU" smtClean="0"/>
              <a:t>‹#›</a:t>
            </a:fld>
            <a:endParaRPr lang="ru-RU"/>
          </a:p>
        </p:txBody>
      </p:sp>
    </p:spTree>
    <p:extLst>
      <p:ext uri="{BB962C8B-B14F-4D97-AF65-F5344CB8AC3E}">
        <p14:creationId xmlns:p14="http://schemas.microsoft.com/office/powerpoint/2010/main" val="2395784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55C7637-47E6-4FBB-9C92-7ED463F81A6A}"/>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DC69BD2F-1F0D-490B-B8E1-B15BCFA4F8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6498931D-4594-45DD-B94A-B7B5D9E7B2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A8098A11-7ACE-46BC-BF1D-E35BC79B1433}"/>
              </a:ext>
            </a:extLst>
          </p:cNvPr>
          <p:cNvSpPr>
            <a:spLocks noGrp="1"/>
          </p:cNvSpPr>
          <p:nvPr>
            <p:ph type="dt" sz="half" idx="10"/>
          </p:nvPr>
        </p:nvSpPr>
        <p:spPr/>
        <p:txBody>
          <a:bodyPr/>
          <a:lstStyle/>
          <a:p>
            <a:fld id="{4888FAD9-C4E3-468C-86DD-2C8417BF9355}" type="datetimeFigureOut">
              <a:rPr lang="ru-RU" smtClean="0"/>
              <a:t>20.01.2026</a:t>
            </a:fld>
            <a:endParaRPr lang="ru-RU"/>
          </a:p>
        </p:txBody>
      </p:sp>
      <p:sp>
        <p:nvSpPr>
          <p:cNvPr id="6" name="Нижний колонтитул 5">
            <a:extLst>
              <a:ext uri="{FF2B5EF4-FFF2-40B4-BE49-F238E27FC236}">
                <a16:creationId xmlns:a16="http://schemas.microsoft.com/office/drawing/2014/main" id="{DB478637-21B2-442E-AFA7-B7086E6EBE6A}"/>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53C0DFF9-E37E-4198-8816-C33BDBC55784}"/>
              </a:ext>
            </a:extLst>
          </p:cNvPr>
          <p:cNvSpPr>
            <a:spLocks noGrp="1"/>
          </p:cNvSpPr>
          <p:nvPr>
            <p:ph type="sldNum" sz="quarter" idx="12"/>
          </p:nvPr>
        </p:nvSpPr>
        <p:spPr/>
        <p:txBody>
          <a:bodyPr/>
          <a:lstStyle/>
          <a:p>
            <a:fld id="{00609292-1848-4D25-86A0-293B7CA835C3}" type="slidenum">
              <a:rPr lang="ru-RU" smtClean="0"/>
              <a:t>‹#›</a:t>
            </a:fld>
            <a:endParaRPr lang="ru-RU"/>
          </a:p>
        </p:txBody>
      </p:sp>
    </p:spTree>
    <p:extLst>
      <p:ext uri="{BB962C8B-B14F-4D97-AF65-F5344CB8AC3E}">
        <p14:creationId xmlns:p14="http://schemas.microsoft.com/office/powerpoint/2010/main" val="3588498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67B263A-F026-4B02-9F6B-B02C0E5E545D}"/>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B20BC527-2CC8-4DCE-AAA0-CD481AF6BE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F343C6E2-83F2-4CCB-8A5F-74F5F5E8D3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2510B684-58CD-4EA7-AD2F-C59428DA3546}"/>
              </a:ext>
            </a:extLst>
          </p:cNvPr>
          <p:cNvSpPr>
            <a:spLocks noGrp="1"/>
          </p:cNvSpPr>
          <p:nvPr>
            <p:ph type="dt" sz="half" idx="10"/>
          </p:nvPr>
        </p:nvSpPr>
        <p:spPr/>
        <p:txBody>
          <a:bodyPr/>
          <a:lstStyle/>
          <a:p>
            <a:fld id="{4888FAD9-C4E3-468C-86DD-2C8417BF9355}" type="datetimeFigureOut">
              <a:rPr lang="ru-RU" smtClean="0"/>
              <a:t>20.01.2026</a:t>
            </a:fld>
            <a:endParaRPr lang="ru-RU"/>
          </a:p>
        </p:txBody>
      </p:sp>
      <p:sp>
        <p:nvSpPr>
          <p:cNvPr id="6" name="Нижний колонтитул 5">
            <a:extLst>
              <a:ext uri="{FF2B5EF4-FFF2-40B4-BE49-F238E27FC236}">
                <a16:creationId xmlns:a16="http://schemas.microsoft.com/office/drawing/2014/main" id="{1EF9C1BC-F7D2-4AC8-92F6-D99B5C6E6538}"/>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ECA2C9BD-BC02-4803-A5D7-55D42579588A}"/>
              </a:ext>
            </a:extLst>
          </p:cNvPr>
          <p:cNvSpPr>
            <a:spLocks noGrp="1"/>
          </p:cNvSpPr>
          <p:nvPr>
            <p:ph type="sldNum" sz="quarter" idx="12"/>
          </p:nvPr>
        </p:nvSpPr>
        <p:spPr/>
        <p:txBody>
          <a:bodyPr/>
          <a:lstStyle/>
          <a:p>
            <a:fld id="{00609292-1848-4D25-86A0-293B7CA835C3}" type="slidenum">
              <a:rPr lang="ru-RU" smtClean="0"/>
              <a:t>‹#›</a:t>
            </a:fld>
            <a:endParaRPr lang="ru-RU"/>
          </a:p>
        </p:txBody>
      </p:sp>
    </p:spTree>
    <p:extLst>
      <p:ext uri="{BB962C8B-B14F-4D97-AF65-F5344CB8AC3E}">
        <p14:creationId xmlns:p14="http://schemas.microsoft.com/office/powerpoint/2010/main" val="7517029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F8FE6F4-A66D-46AB-8C51-B529736009FB}"/>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DB6311BC-E1C9-42B9-B94D-FF8D3F72E7FA}"/>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EAEA8D94-47BC-40EF-9C9B-96A5DA6A4589}"/>
              </a:ext>
            </a:extLst>
          </p:cNvPr>
          <p:cNvSpPr>
            <a:spLocks noGrp="1"/>
          </p:cNvSpPr>
          <p:nvPr>
            <p:ph type="dt" sz="half" idx="10"/>
          </p:nvPr>
        </p:nvSpPr>
        <p:spPr/>
        <p:txBody>
          <a:bodyPr/>
          <a:lstStyle/>
          <a:p>
            <a:fld id="{4888FAD9-C4E3-468C-86DD-2C8417BF9355}" type="datetimeFigureOut">
              <a:rPr lang="ru-RU" smtClean="0"/>
              <a:t>20.01.2026</a:t>
            </a:fld>
            <a:endParaRPr lang="ru-RU"/>
          </a:p>
        </p:txBody>
      </p:sp>
      <p:sp>
        <p:nvSpPr>
          <p:cNvPr id="5" name="Нижний колонтитул 4">
            <a:extLst>
              <a:ext uri="{FF2B5EF4-FFF2-40B4-BE49-F238E27FC236}">
                <a16:creationId xmlns:a16="http://schemas.microsoft.com/office/drawing/2014/main" id="{027A429F-3F71-4C6B-A9B8-BC5D2CA3BB07}"/>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DD7A444C-586F-4FA2-8B54-30A060B3594C}"/>
              </a:ext>
            </a:extLst>
          </p:cNvPr>
          <p:cNvSpPr>
            <a:spLocks noGrp="1"/>
          </p:cNvSpPr>
          <p:nvPr>
            <p:ph type="sldNum" sz="quarter" idx="12"/>
          </p:nvPr>
        </p:nvSpPr>
        <p:spPr/>
        <p:txBody>
          <a:bodyPr/>
          <a:lstStyle/>
          <a:p>
            <a:fld id="{00609292-1848-4D25-86A0-293B7CA835C3}" type="slidenum">
              <a:rPr lang="ru-RU" smtClean="0"/>
              <a:t>‹#›</a:t>
            </a:fld>
            <a:endParaRPr lang="ru-RU"/>
          </a:p>
        </p:txBody>
      </p:sp>
    </p:spTree>
    <p:extLst>
      <p:ext uri="{BB962C8B-B14F-4D97-AF65-F5344CB8AC3E}">
        <p14:creationId xmlns:p14="http://schemas.microsoft.com/office/powerpoint/2010/main" val="16990550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44648831-FB4F-4404-A51E-DCADBD3E51C9}"/>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CAAB174A-2FCE-4767-B972-FCA6F92374EA}"/>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447FCE22-03B3-4C72-8798-99272A47735D}"/>
              </a:ext>
            </a:extLst>
          </p:cNvPr>
          <p:cNvSpPr>
            <a:spLocks noGrp="1"/>
          </p:cNvSpPr>
          <p:nvPr>
            <p:ph type="dt" sz="half" idx="10"/>
          </p:nvPr>
        </p:nvSpPr>
        <p:spPr/>
        <p:txBody>
          <a:bodyPr/>
          <a:lstStyle/>
          <a:p>
            <a:fld id="{4888FAD9-C4E3-468C-86DD-2C8417BF9355}" type="datetimeFigureOut">
              <a:rPr lang="ru-RU" smtClean="0"/>
              <a:t>20.01.2026</a:t>
            </a:fld>
            <a:endParaRPr lang="ru-RU"/>
          </a:p>
        </p:txBody>
      </p:sp>
      <p:sp>
        <p:nvSpPr>
          <p:cNvPr id="5" name="Нижний колонтитул 4">
            <a:extLst>
              <a:ext uri="{FF2B5EF4-FFF2-40B4-BE49-F238E27FC236}">
                <a16:creationId xmlns:a16="http://schemas.microsoft.com/office/drawing/2014/main" id="{529446F6-29C8-4128-9385-848623449F5C}"/>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A2203FA6-C762-4BF5-BABA-FE26EF0E6F9A}"/>
              </a:ext>
            </a:extLst>
          </p:cNvPr>
          <p:cNvSpPr>
            <a:spLocks noGrp="1"/>
          </p:cNvSpPr>
          <p:nvPr>
            <p:ph type="sldNum" sz="quarter" idx="12"/>
          </p:nvPr>
        </p:nvSpPr>
        <p:spPr/>
        <p:txBody>
          <a:bodyPr/>
          <a:lstStyle/>
          <a:p>
            <a:fld id="{00609292-1848-4D25-86A0-293B7CA835C3}" type="slidenum">
              <a:rPr lang="ru-RU" smtClean="0"/>
              <a:t>‹#›</a:t>
            </a:fld>
            <a:endParaRPr lang="ru-RU"/>
          </a:p>
        </p:txBody>
      </p:sp>
    </p:spTree>
    <p:extLst>
      <p:ext uri="{BB962C8B-B14F-4D97-AF65-F5344CB8AC3E}">
        <p14:creationId xmlns:p14="http://schemas.microsoft.com/office/powerpoint/2010/main" val="3954381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6CF1BB0-1F2B-4F63-819C-389A14D939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6DA08316-1FEA-4840-AE78-E478298E26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D5837C81-BEA1-4B02-8C29-02353AEE48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88FAD9-C4E3-468C-86DD-2C8417BF9355}" type="datetimeFigureOut">
              <a:rPr lang="ru-RU" smtClean="0"/>
              <a:t>20.01.2026</a:t>
            </a:fld>
            <a:endParaRPr lang="ru-RU"/>
          </a:p>
        </p:txBody>
      </p:sp>
      <p:sp>
        <p:nvSpPr>
          <p:cNvPr id="5" name="Нижний колонтитул 4">
            <a:extLst>
              <a:ext uri="{FF2B5EF4-FFF2-40B4-BE49-F238E27FC236}">
                <a16:creationId xmlns:a16="http://schemas.microsoft.com/office/drawing/2014/main" id="{A2A2A5D2-A08B-4C15-A876-7F0F31A6F7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7E4DAF3C-A6EE-4FBC-AEC1-8F018B1891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609292-1848-4D25-86A0-293B7CA835C3}" type="slidenum">
              <a:rPr lang="ru-RU" smtClean="0"/>
              <a:t>‹#›</a:t>
            </a:fld>
            <a:endParaRPr lang="ru-RU"/>
          </a:p>
        </p:txBody>
      </p:sp>
    </p:spTree>
    <p:extLst>
      <p:ext uri="{BB962C8B-B14F-4D97-AF65-F5344CB8AC3E}">
        <p14:creationId xmlns:p14="http://schemas.microsoft.com/office/powerpoint/2010/main" val="97017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51E5BDA-FC35-4BC2-873A-730968D50ECC}"/>
              </a:ext>
            </a:extLst>
          </p:cNvPr>
          <p:cNvSpPr>
            <a:spLocks noGrp="1"/>
          </p:cNvSpPr>
          <p:nvPr>
            <p:ph type="ctrTitle"/>
          </p:nvPr>
        </p:nvSpPr>
        <p:spPr/>
        <p:txBody>
          <a:bodyPr/>
          <a:lstStyle/>
          <a:p>
            <a:r>
              <a:rPr lang="ru-RU" dirty="0"/>
              <a:t>Численные методы</a:t>
            </a:r>
          </a:p>
        </p:txBody>
      </p:sp>
      <p:sp>
        <p:nvSpPr>
          <p:cNvPr id="3" name="Подзаголовок 2">
            <a:extLst>
              <a:ext uri="{FF2B5EF4-FFF2-40B4-BE49-F238E27FC236}">
                <a16:creationId xmlns:a16="http://schemas.microsoft.com/office/drawing/2014/main" id="{D35A59B3-A949-4873-AD25-B58F4CB330A4}"/>
              </a:ext>
            </a:extLst>
          </p:cNvPr>
          <p:cNvSpPr>
            <a:spLocks noGrp="1"/>
          </p:cNvSpPr>
          <p:nvPr>
            <p:ph type="subTitle" idx="1"/>
          </p:nvPr>
        </p:nvSpPr>
        <p:spPr/>
        <p:txBody>
          <a:bodyPr/>
          <a:lstStyle/>
          <a:p>
            <a:r>
              <a:rPr lang="ru-RU" dirty="0"/>
              <a:t>Краткий конспект основных тем</a:t>
            </a:r>
          </a:p>
          <a:p>
            <a:r>
              <a:rPr lang="ru-RU" dirty="0"/>
              <a:t>Лекция 1. Введение. Погрешности вычислений.</a:t>
            </a:r>
          </a:p>
        </p:txBody>
      </p:sp>
    </p:spTree>
    <p:extLst>
      <p:ext uri="{BB962C8B-B14F-4D97-AF65-F5344CB8AC3E}">
        <p14:creationId xmlns:p14="http://schemas.microsoft.com/office/powerpoint/2010/main" val="11255162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9B585C-5635-463A-A201-4D3D6C43FB88}"/>
              </a:ext>
            </a:extLst>
          </p:cNvPr>
          <p:cNvSpPr>
            <a:spLocks noGrp="1"/>
          </p:cNvSpPr>
          <p:nvPr>
            <p:ph type="title"/>
          </p:nvPr>
        </p:nvSpPr>
        <p:spPr>
          <a:xfrm>
            <a:off x="368490" y="136479"/>
            <a:ext cx="11368585" cy="6502066"/>
          </a:xfrm>
        </p:spPr>
        <p:txBody>
          <a:bodyPr anchor="t">
            <a:normAutofit fontScale="90000"/>
          </a:bodyPr>
          <a:lstStyle/>
          <a:p>
            <a:r>
              <a:rPr lang="ru-RU" dirty="0"/>
              <a:t>Литература</a:t>
            </a:r>
            <a:br>
              <a:rPr lang="ru-RU" dirty="0"/>
            </a:br>
            <a:br>
              <a:rPr lang="ru-RU" dirty="0"/>
            </a:br>
            <a:r>
              <a:rPr lang="ru-RU" sz="3200" dirty="0"/>
              <a:t>1. </a:t>
            </a:r>
            <a:r>
              <a:rPr lang="ru-RU" sz="3600" dirty="0"/>
              <a:t>Бахвалов Н.В., Жидков Н.П., Кобельков Г.М. Численные методы</a:t>
            </a:r>
            <a:br>
              <a:rPr lang="ru-RU" sz="3600" dirty="0"/>
            </a:br>
            <a:r>
              <a:rPr lang="ru-RU" sz="3600" dirty="0"/>
              <a:t>2. Петров И.Б., Лобанов А.И. Лекции по вычислительной математике</a:t>
            </a:r>
            <a:br>
              <a:rPr lang="ru-RU" sz="3600" dirty="0"/>
            </a:br>
            <a:r>
              <a:rPr lang="ru-RU" sz="3600" dirty="0"/>
              <a:t>3. Рябенький В.С. Введение в вычислительную математику</a:t>
            </a:r>
            <a:br>
              <a:rPr lang="ru-RU" sz="3600" dirty="0"/>
            </a:br>
            <a:r>
              <a:rPr lang="ru-RU" sz="3600" dirty="0"/>
              <a:t>4. Марчук Г.И Методы вычислительной математики</a:t>
            </a:r>
            <a:br>
              <a:rPr lang="ru-RU" sz="3600" dirty="0"/>
            </a:br>
            <a:r>
              <a:rPr lang="ru-RU" sz="3600" dirty="0"/>
              <a:t>5. Самарский А.А., </a:t>
            </a:r>
            <a:r>
              <a:rPr lang="ru-RU" sz="3600" dirty="0" err="1"/>
              <a:t>Гулин</a:t>
            </a:r>
            <a:r>
              <a:rPr lang="ru-RU" sz="3600" dirty="0"/>
              <a:t> А.В. Численные методы</a:t>
            </a:r>
            <a:br>
              <a:rPr lang="ru-RU" sz="3600" dirty="0"/>
            </a:br>
            <a:r>
              <a:rPr lang="ru-RU" sz="3600" dirty="0"/>
              <a:t>6. Березин И.С., Жидков Н.П. Методы вычислений  В 2-х томах</a:t>
            </a:r>
            <a:br>
              <a:rPr lang="ru-RU" sz="3600" dirty="0"/>
            </a:br>
            <a:r>
              <a:rPr lang="ru-RU" sz="3600" dirty="0"/>
              <a:t>7. </a:t>
            </a:r>
            <a:r>
              <a:rPr lang="ru-RU" sz="3600" dirty="0" err="1"/>
              <a:t>Калиткин</a:t>
            </a:r>
            <a:r>
              <a:rPr lang="ru-RU" sz="3600" dirty="0"/>
              <a:t> Н.Н. Численные методы</a:t>
            </a:r>
            <a:br>
              <a:rPr lang="ru-RU" sz="3600" dirty="0"/>
            </a:br>
            <a:r>
              <a:rPr lang="ru-RU" sz="3600" dirty="0"/>
              <a:t>8. Крылов В.И. , Бобков В.В., </a:t>
            </a:r>
            <a:r>
              <a:rPr lang="ru-RU" sz="3600" dirty="0" err="1"/>
              <a:t>Монастырный</a:t>
            </a:r>
            <a:r>
              <a:rPr lang="ru-RU" sz="3600" dirty="0"/>
              <a:t> П.И. Вычислительные методы В 2-х томах</a:t>
            </a:r>
            <a:br>
              <a:rPr lang="ru-RU" sz="3600" dirty="0"/>
            </a:br>
            <a:r>
              <a:rPr lang="ru-RU" sz="3600" dirty="0"/>
              <a:t>9. </a:t>
            </a:r>
            <a:r>
              <a:rPr lang="ru-RU" sz="3600" dirty="0" err="1"/>
              <a:t>Турчак</a:t>
            </a:r>
            <a:r>
              <a:rPr lang="ru-RU" sz="3600" dirty="0"/>
              <a:t> Л.И. Основы численных методов</a:t>
            </a:r>
            <a:br>
              <a:rPr lang="ru-RU" dirty="0"/>
            </a:br>
            <a:endParaRPr lang="ru-RU" dirty="0"/>
          </a:p>
        </p:txBody>
      </p:sp>
    </p:spTree>
    <p:extLst>
      <p:ext uri="{BB962C8B-B14F-4D97-AF65-F5344CB8AC3E}">
        <p14:creationId xmlns:p14="http://schemas.microsoft.com/office/powerpoint/2010/main" val="30286164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9B585C-5635-463A-A201-4D3D6C43FB88}"/>
              </a:ext>
            </a:extLst>
          </p:cNvPr>
          <p:cNvSpPr>
            <a:spLocks noGrp="1"/>
          </p:cNvSpPr>
          <p:nvPr>
            <p:ph type="title"/>
          </p:nvPr>
        </p:nvSpPr>
        <p:spPr>
          <a:xfrm>
            <a:off x="1665027" y="1037229"/>
            <a:ext cx="10072048" cy="5601315"/>
          </a:xfrm>
        </p:spPr>
        <p:txBody>
          <a:bodyPr anchor="t">
            <a:normAutofit fontScale="90000"/>
          </a:bodyPr>
          <a:lstStyle/>
          <a:p>
            <a:r>
              <a:rPr lang="ru-RU" dirty="0"/>
              <a:t>Этапы решения задач на ЭВМ</a:t>
            </a:r>
            <a:br>
              <a:rPr lang="ru-RU" dirty="0"/>
            </a:br>
            <a:br>
              <a:rPr lang="ru-RU" dirty="0"/>
            </a:br>
            <a:r>
              <a:rPr lang="ru-RU" sz="3200" dirty="0"/>
              <a:t>1. </a:t>
            </a:r>
            <a:r>
              <a:rPr lang="ru-RU" sz="3600" dirty="0"/>
              <a:t>Постановка задачи</a:t>
            </a:r>
            <a:br>
              <a:rPr lang="ru-RU" sz="3600" dirty="0"/>
            </a:br>
            <a:r>
              <a:rPr lang="ru-RU" sz="3600" dirty="0"/>
              <a:t>2. Построение математической модели</a:t>
            </a:r>
            <a:br>
              <a:rPr lang="ru-RU" sz="3600" dirty="0"/>
            </a:br>
            <a:r>
              <a:rPr lang="ru-RU" sz="3600" dirty="0"/>
              <a:t>3. Определение численного метода решения задачи</a:t>
            </a:r>
            <a:br>
              <a:rPr lang="ru-RU" sz="3600" dirty="0"/>
            </a:br>
            <a:r>
              <a:rPr lang="ru-RU" sz="3600" dirty="0"/>
              <a:t>4. Разработка алгоритма</a:t>
            </a:r>
            <a:br>
              <a:rPr lang="ru-RU" sz="3600" dirty="0"/>
            </a:br>
            <a:r>
              <a:rPr lang="ru-RU" sz="3600" dirty="0"/>
              <a:t>5. Программирование</a:t>
            </a:r>
            <a:br>
              <a:rPr lang="ru-RU" sz="3600" dirty="0"/>
            </a:br>
            <a:r>
              <a:rPr lang="ru-RU" sz="3600" dirty="0"/>
              <a:t>6. Отладка программы</a:t>
            </a:r>
            <a:br>
              <a:rPr lang="ru-RU" sz="3600" dirty="0"/>
            </a:br>
            <a:r>
              <a:rPr lang="ru-RU" sz="3600" dirty="0"/>
              <a:t>7. Проведение расчетов</a:t>
            </a:r>
            <a:br>
              <a:rPr lang="ru-RU" sz="3600" dirty="0"/>
            </a:br>
            <a:r>
              <a:rPr lang="ru-RU" sz="3600" dirty="0"/>
              <a:t>8. Анализ результатов</a:t>
            </a:r>
            <a:br>
              <a:rPr lang="ru-RU" sz="3600" dirty="0"/>
            </a:br>
            <a:br>
              <a:rPr lang="ru-RU" dirty="0"/>
            </a:br>
            <a:endParaRPr lang="ru-RU" dirty="0"/>
          </a:p>
        </p:txBody>
      </p:sp>
    </p:spTree>
    <p:extLst>
      <p:ext uri="{BB962C8B-B14F-4D97-AF65-F5344CB8AC3E}">
        <p14:creationId xmlns:p14="http://schemas.microsoft.com/office/powerpoint/2010/main" val="26266683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9B585C-5635-463A-A201-4D3D6C43FB88}"/>
              </a:ext>
            </a:extLst>
          </p:cNvPr>
          <p:cNvSpPr>
            <a:spLocks noGrp="1"/>
          </p:cNvSpPr>
          <p:nvPr>
            <p:ph type="title"/>
          </p:nvPr>
        </p:nvSpPr>
        <p:spPr>
          <a:xfrm>
            <a:off x="1665027" y="1037229"/>
            <a:ext cx="10072048" cy="5601315"/>
          </a:xfrm>
        </p:spPr>
        <p:txBody>
          <a:bodyPr anchor="t">
            <a:normAutofit fontScale="90000"/>
          </a:bodyPr>
          <a:lstStyle/>
          <a:p>
            <a:r>
              <a:rPr lang="ru-RU" dirty="0"/>
              <a:t>Если упростить, этапы решения задач на ЭВМ можно свести к двум.</a:t>
            </a:r>
            <a:br>
              <a:rPr lang="ru-RU" dirty="0"/>
            </a:br>
            <a:br>
              <a:rPr lang="ru-RU" dirty="0"/>
            </a:br>
            <a:r>
              <a:rPr lang="ru-RU" sz="3200" dirty="0"/>
              <a:t>1. </a:t>
            </a:r>
            <a:r>
              <a:rPr lang="ru-RU" sz="3600" dirty="0"/>
              <a:t>Математическое описание задачи</a:t>
            </a:r>
            <a:br>
              <a:rPr lang="ru-RU" sz="3600" dirty="0"/>
            </a:br>
            <a:r>
              <a:rPr lang="ru-RU" sz="3600" dirty="0"/>
              <a:t>2. Решение этой задачи методами вычислительной математики</a:t>
            </a:r>
            <a:br>
              <a:rPr lang="ru-RU" sz="3600" dirty="0"/>
            </a:br>
            <a:br>
              <a:rPr lang="ru-RU" sz="3600" dirty="0"/>
            </a:br>
            <a:r>
              <a:rPr lang="ru-RU" sz="3600" dirty="0"/>
              <a:t>На каждом из этапов мы получает решение с некоторой точностью</a:t>
            </a:r>
            <a:br>
              <a:rPr lang="ru-RU" sz="3600" dirty="0"/>
            </a:br>
            <a:br>
              <a:rPr lang="ru-RU" dirty="0"/>
            </a:br>
            <a:endParaRPr lang="ru-RU" dirty="0"/>
          </a:p>
        </p:txBody>
      </p:sp>
    </p:spTree>
    <p:extLst>
      <p:ext uri="{BB962C8B-B14F-4D97-AF65-F5344CB8AC3E}">
        <p14:creationId xmlns:p14="http://schemas.microsoft.com/office/powerpoint/2010/main" val="834390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9B585C-5635-463A-A201-4D3D6C43FB88}"/>
              </a:ext>
            </a:extLst>
          </p:cNvPr>
          <p:cNvSpPr>
            <a:spLocks noGrp="1"/>
          </p:cNvSpPr>
          <p:nvPr>
            <p:ph type="title"/>
          </p:nvPr>
        </p:nvSpPr>
        <p:spPr>
          <a:xfrm>
            <a:off x="1665027" y="1037229"/>
            <a:ext cx="10072048" cy="5601315"/>
          </a:xfrm>
        </p:spPr>
        <p:txBody>
          <a:bodyPr anchor="t">
            <a:normAutofit/>
          </a:bodyPr>
          <a:lstStyle/>
          <a:p>
            <a:r>
              <a:rPr lang="ru-RU" dirty="0"/>
              <a:t>На первом этапе погрешность складывается из</a:t>
            </a:r>
            <a:br>
              <a:rPr lang="ru-RU" dirty="0"/>
            </a:br>
            <a:r>
              <a:rPr lang="ru-RU" sz="3200" dirty="0"/>
              <a:t>1. </a:t>
            </a:r>
            <a:r>
              <a:rPr lang="ru-RU" sz="3600" dirty="0"/>
              <a:t>погрешность в описании процессов</a:t>
            </a:r>
            <a:br>
              <a:rPr lang="ru-RU" sz="3600" dirty="0"/>
            </a:br>
            <a:r>
              <a:rPr lang="ru-RU" sz="3600" dirty="0"/>
              <a:t>2. неточность во входных данных</a:t>
            </a:r>
            <a:br>
              <a:rPr lang="ru-RU" sz="3600" dirty="0"/>
            </a:br>
            <a:br>
              <a:rPr lang="ru-RU" sz="3600" dirty="0"/>
            </a:br>
            <a:r>
              <a:rPr lang="ru-RU" sz="3600" dirty="0"/>
              <a:t>С точки зрения получаемых результатов – это НЕУСТРАНИМЫЕ погрешности.</a:t>
            </a:r>
            <a:br>
              <a:rPr lang="ru-RU" sz="3600" dirty="0"/>
            </a:br>
            <a:br>
              <a:rPr lang="ru-RU" dirty="0"/>
            </a:br>
            <a:endParaRPr lang="ru-RU" dirty="0"/>
          </a:p>
        </p:txBody>
      </p:sp>
    </p:spTree>
    <p:extLst>
      <p:ext uri="{BB962C8B-B14F-4D97-AF65-F5344CB8AC3E}">
        <p14:creationId xmlns:p14="http://schemas.microsoft.com/office/powerpoint/2010/main" val="1735284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9B585C-5635-463A-A201-4D3D6C43FB88}"/>
              </a:ext>
            </a:extLst>
          </p:cNvPr>
          <p:cNvSpPr>
            <a:spLocks noGrp="1"/>
          </p:cNvSpPr>
          <p:nvPr>
            <p:ph type="title"/>
          </p:nvPr>
        </p:nvSpPr>
        <p:spPr>
          <a:xfrm>
            <a:off x="1665027" y="1037229"/>
            <a:ext cx="10072048" cy="5601315"/>
          </a:xfrm>
        </p:spPr>
        <p:txBody>
          <a:bodyPr anchor="t">
            <a:normAutofit/>
          </a:bodyPr>
          <a:lstStyle/>
          <a:p>
            <a:r>
              <a:rPr lang="ru-RU" dirty="0"/>
              <a:t>На втором этапе погрешность складывается из</a:t>
            </a:r>
            <a:br>
              <a:rPr lang="ru-RU" dirty="0"/>
            </a:br>
            <a:r>
              <a:rPr lang="ru-RU" sz="3200" dirty="0"/>
              <a:t>1. </a:t>
            </a:r>
            <a:r>
              <a:rPr lang="ru-RU" sz="3600" dirty="0"/>
              <a:t>погрешность метода решения (погрешность аппроксимации) при замене исходной задачи её численным аналогом</a:t>
            </a:r>
            <a:br>
              <a:rPr lang="ru-RU" sz="3600" dirty="0"/>
            </a:br>
            <a:r>
              <a:rPr lang="ru-RU" sz="3600" dirty="0"/>
              <a:t>2. вычислительная погрешность при округлении и выполнении арифметических операций</a:t>
            </a:r>
            <a:br>
              <a:rPr lang="ru-RU" sz="3600" dirty="0"/>
            </a:br>
            <a:br>
              <a:rPr lang="ru-RU" sz="3600" dirty="0"/>
            </a:br>
            <a:br>
              <a:rPr lang="ru-RU" dirty="0"/>
            </a:br>
            <a:endParaRPr lang="ru-RU" dirty="0"/>
          </a:p>
        </p:txBody>
      </p:sp>
    </p:spTree>
    <p:extLst>
      <p:ext uri="{BB962C8B-B14F-4D97-AF65-F5344CB8AC3E}">
        <p14:creationId xmlns:p14="http://schemas.microsoft.com/office/powerpoint/2010/main" val="37007527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9B585C-5635-463A-A201-4D3D6C43FB88}"/>
              </a:ext>
            </a:extLst>
          </p:cNvPr>
          <p:cNvSpPr>
            <a:spLocks noGrp="1"/>
          </p:cNvSpPr>
          <p:nvPr>
            <p:ph type="title"/>
          </p:nvPr>
        </p:nvSpPr>
        <p:spPr>
          <a:xfrm>
            <a:off x="655094" y="313899"/>
            <a:ext cx="11081982" cy="6324646"/>
          </a:xfrm>
        </p:spPr>
        <p:txBody>
          <a:bodyPr anchor="t">
            <a:normAutofit fontScale="90000"/>
          </a:bodyPr>
          <a:lstStyle/>
          <a:p>
            <a:r>
              <a:rPr lang="ru-RU" dirty="0"/>
              <a:t>				</a:t>
            </a:r>
            <a:r>
              <a:rPr lang="ru-RU" sz="4900" dirty="0" err="1"/>
              <a:t>Справочно</a:t>
            </a:r>
            <a:br>
              <a:rPr lang="ru-RU" sz="4900" dirty="0"/>
            </a:br>
            <a:r>
              <a:rPr lang="ru-RU" sz="4900" dirty="0"/>
              <a:t>			Правила округления</a:t>
            </a:r>
            <a:br>
              <a:rPr lang="ru-RU" dirty="0"/>
            </a:br>
            <a:r>
              <a:rPr lang="ru-RU" dirty="0"/>
              <a:t>Если значение разряда больше 5 предыдущий разряд усиливается, если меньше 5 остается без изменений.</a:t>
            </a:r>
            <a:br>
              <a:rPr lang="ru-RU" dirty="0"/>
            </a:br>
            <a:r>
              <a:rPr lang="ru-RU" dirty="0"/>
              <a:t>Если значение разряда равно 5 и после него есть ненулевые разряды – предыдущий разряд усиливается.</a:t>
            </a:r>
            <a:br>
              <a:rPr lang="ru-RU" dirty="0"/>
            </a:br>
            <a:r>
              <a:rPr lang="ru-RU" b="1" i="1" dirty="0"/>
              <a:t>Если значение разряда равно 5 и последующие разряды отсутствуют то, нечётный предыдущий разряд усиливается, а чётный – нет.</a:t>
            </a:r>
            <a:br>
              <a:rPr lang="ru-RU" b="1" i="1" dirty="0"/>
            </a:br>
            <a:br>
              <a:rPr lang="ru-RU" sz="3600" dirty="0"/>
            </a:br>
            <a:br>
              <a:rPr lang="ru-RU" sz="3600" dirty="0"/>
            </a:br>
            <a:br>
              <a:rPr lang="ru-RU" dirty="0"/>
            </a:br>
            <a:endParaRPr lang="ru-RU" dirty="0"/>
          </a:p>
        </p:txBody>
      </p:sp>
    </p:spTree>
    <p:extLst>
      <p:ext uri="{BB962C8B-B14F-4D97-AF65-F5344CB8AC3E}">
        <p14:creationId xmlns:p14="http://schemas.microsoft.com/office/powerpoint/2010/main" val="2811642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Заголовок 1">
                <a:extLst>
                  <a:ext uri="{FF2B5EF4-FFF2-40B4-BE49-F238E27FC236}">
                    <a16:creationId xmlns:a16="http://schemas.microsoft.com/office/drawing/2014/main" id="{A49B585C-5635-463A-A201-4D3D6C43FB88}"/>
                  </a:ext>
                </a:extLst>
              </p:cNvPr>
              <p:cNvSpPr>
                <a:spLocks noGrp="1"/>
              </p:cNvSpPr>
              <p:nvPr>
                <p:ph type="title"/>
              </p:nvPr>
            </p:nvSpPr>
            <p:spPr>
              <a:xfrm>
                <a:off x="655094" y="313899"/>
                <a:ext cx="11081982" cy="6324646"/>
              </a:xfrm>
            </p:spPr>
            <p:txBody>
              <a:bodyPr anchor="t">
                <a:normAutofit/>
              </a:bodyPr>
              <a:lstStyle/>
              <a:p>
                <a:r>
                  <a:rPr lang="ru-RU" dirty="0"/>
                  <a:t>			</a:t>
                </a:r>
                <a:r>
                  <a:rPr lang="ru-RU" sz="4900" dirty="0"/>
                  <a:t>Абсолютная погрешность</a:t>
                </a:r>
                <a:br>
                  <a:rPr lang="ru-RU" sz="4900" dirty="0"/>
                </a:br>
                <a:br>
                  <a:rPr lang="ru-RU" dirty="0"/>
                </a:br>
                <a:r>
                  <a:rPr lang="ru-RU" dirty="0"/>
                  <a:t>Пусть </a:t>
                </a:r>
                <a:r>
                  <a:rPr lang="en-US" dirty="0"/>
                  <a:t>A</a:t>
                </a:r>
                <a:r>
                  <a:rPr lang="ru-RU" dirty="0"/>
                  <a:t> – точное значение числа, </a:t>
                </a:r>
                <a:r>
                  <a:rPr lang="en-US" dirty="0"/>
                  <a:t>a</a:t>
                </a:r>
                <a:r>
                  <a:rPr lang="ru-RU" dirty="0"/>
                  <a:t> – его приближённое значение.</a:t>
                </a:r>
                <a:br>
                  <a:rPr lang="ru-RU" dirty="0"/>
                </a:br>
                <a:r>
                  <a:rPr lang="ru-RU" dirty="0"/>
                  <a:t>Абсолютная погрешность </a:t>
                </a:r>
                <a14:m>
                  <m:oMath xmlns:m="http://schemas.openxmlformats.org/officeDocument/2006/math">
                    <m:sSub>
                      <m:sSubPr>
                        <m:ctrlPr>
                          <a:rPr lang="ru-RU" i="1" smtClean="0">
                            <a:latin typeface="Cambria Math" panose="02040503050406030204" pitchFamily="18" charset="0"/>
                            <a:ea typeface="Cambria Math" panose="02040503050406030204" pitchFamily="18" charset="0"/>
                          </a:rPr>
                        </m:ctrlPr>
                      </m:sSubPr>
                      <m:e>
                        <m:r>
                          <a:rPr lang="ru-RU" i="1" smtClean="0">
                            <a:latin typeface="Cambria Math" panose="02040503050406030204" pitchFamily="18" charset="0"/>
                            <a:ea typeface="Cambria Math" panose="02040503050406030204" pitchFamily="18" charset="0"/>
                          </a:rPr>
                          <m:t>∆</m:t>
                        </m:r>
                      </m:e>
                      <m:sub>
                        <m:r>
                          <a:rPr lang="en-US" b="0" i="1" smtClean="0">
                            <a:latin typeface="Cambria Math" panose="02040503050406030204" pitchFamily="18" charset="0"/>
                            <a:ea typeface="Cambria Math" panose="02040503050406030204" pitchFamily="18" charset="0"/>
                          </a:rPr>
                          <m:t>𝑎</m:t>
                        </m:r>
                      </m:sub>
                    </m:sSub>
                    <m:r>
                      <a:rPr lang="ru-RU"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e>
                    </m:d>
                  </m:oMath>
                </a14:m>
                <a:br>
                  <a:rPr lang="en-US" sz="3600" dirty="0"/>
                </a:br>
                <a:r>
                  <a:rPr lang="ru-RU" dirty="0"/>
                  <a:t>Таким образом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oMath>
                </a14:m>
                <a:r>
                  <a:rPr lang="ru-RU" sz="3600" dirty="0">
                    <a:ea typeface="Cambria Math" panose="02040503050406030204" pitchFamily="18" charset="0"/>
                  </a:rPr>
                  <a:t> </a:t>
                </a:r>
                <a14:m>
                  <m:oMath xmlns:m="http://schemas.openxmlformats.org/officeDocument/2006/math">
                    <m:sSub>
                      <m:sSubPr>
                        <m:ctrlPr>
                          <a:rPr lang="ru-RU" sz="3600" i="1" smtClean="0">
                            <a:latin typeface="Cambria Math" panose="02040503050406030204" pitchFamily="18" charset="0"/>
                            <a:ea typeface="Cambria Math" panose="02040503050406030204" pitchFamily="18" charset="0"/>
                          </a:rPr>
                        </m:ctrlPr>
                      </m:sSubPr>
                      <m:e>
                        <m:r>
                          <a:rPr lang="ru-RU" sz="3600" i="1" smtClean="0">
                            <a:latin typeface="Cambria Math" panose="02040503050406030204" pitchFamily="18" charset="0"/>
                            <a:ea typeface="Cambria Math" panose="02040503050406030204" pitchFamily="18" charset="0"/>
                          </a:rPr>
                          <m:t>∆</m:t>
                        </m:r>
                      </m:e>
                      <m:sub>
                        <m:r>
                          <a:rPr lang="en-US" sz="3600" b="0" i="1" smtClean="0">
                            <a:latin typeface="Cambria Math" panose="02040503050406030204" pitchFamily="18" charset="0"/>
                            <a:ea typeface="Cambria Math" panose="02040503050406030204" pitchFamily="18" charset="0"/>
                          </a:rPr>
                          <m:t>𝑎</m:t>
                        </m:r>
                      </m:sub>
                    </m:sSub>
                  </m:oMath>
                </a14:m>
                <a:r>
                  <a:rPr lang="en-US" sz="3600" dirty="0"/>
                  <a:t> </a:t>
                </a:r>
                <a:r>
                  <a:rPr lang="en-US" sz="4800" dirty="0"/>
                  <a:t>≤ </a:t>
                </a:r>
                <a14:m>
                  <m:oMath xmlns:m="http://schemas.openxmlformats.org/officeDocument/2006/math">
                    <m:r>
                      <a:rPr lang="en-US" sz="4800" b="0" i="1" smtClean="0">
                        <a:latin typeface="Cambria Math" panose="02040503050406030204" pitchFamily="18" charset="0"/>
                        <a:ea typeface="Cambria Math" panose="02040503050406030204" pitchFamily="18" charset="0"/>
                      </a:rPr>
                      <m:t>𝐴</m:t>
                    </m:r>
                    <m:r>
                      <a:rPr lang="en-US" sz="4800" b="0" i="1" smtClean="0">
                        <a:latin typeface="Cambria Math" panose="02040503050406030204" pitchFamily="18" charset="0"/>
                        <a:ea typeface="Cambria Math" panose="02040503050406030204" pitchFamily="18" charset="0"/>
                      </a:rPr>
                      <m:t> </m:t>
                    </m:r>
                  </m:oMath>
                </a14:m>
                <a:r>
                  <a:rPr lang="en-US" sz="4800" dirty="0"/>
                  <a:t>≤ </a:t>
                </a:r>
                <a14:m>
                  <m:oMath xmlns:m="http://schemas.openxmlformats.org/officeDocument/2006/math">
                    <m:r>
                      <a:rPr lang="en-US" sz="3600" b="0" i="1" smtClean="0">
                        <a:latin typeface="Cambria Math" panose="02040503050406030204" pitchFamily="18" charset="0"/>
                      </a:rPr>
                      <m:t>𝑎</m:t>
                    </m:r>
                    <m:r>
                      <a:rPr lang="en-US" sz="3600" b="0" i="1" smtClean="0">
                        <a:latin typeface="Cambria Math" panose="02040503050406030204" pitchFamily="18" charset="0"/>
                      </a:rPr>
                      <m:t>+</m:t>
                    </m:r>
                  </m:oMath>
                </a14:m>
                <a:r>
                  <a:rPr lang="ru-RU" sz="3600" dirty="0">
                    <a:ea typeface="Cambria Math" panose="02040503050406030204" pitchFamily="18" charset="0"/>
                  </a:rPr>
                  <a:t> </a:t>
                </a:r>
                <a14:m>
                  <m:oMath xmlns:m="http://schemas.openxmlformats.org/officeDocument/2006/math">
                    <m:sSub>
                      <m:sSubPr>
                        <m:ctrlPr>
                          <a:rPr lang="ru-RU" sz="3600" i="1" smtClean="0">
                            <a:latin typeface="Cambria Math" panose="02040503050406030204" pitchFamily="18" charset="0"/>
                            <a:ea typeface="Cambria Math" panose="02040503050406030204" pitchFamily="18" charset="0"/>
                          </a:rPr>
                        </m:ctrlPr>
                      </m:sSubPr>
                      <m:e>
                        <m:r>
                          <a:rPr lang="ru-RU" sz="3600" i="1" smtClean="0">
                            <a:latin typeface="Cambria Math" panose="02040503050406030204" pitchFamily="18" charset="0"/>
                            <a:ea typeface="Cambria Math" panose="02040503050406030204" pitchFamily="18" charset="0"/>
                          </a:rPr>
                          <m:t>∆</m:t>
                        </m:r>
                      </m:e>
                      <m:sub>
                        <m:r>
                          <a:rPr lang="en-US" sz="3600" b="0" i="1" smtClean="0">
                            <a:latin typeface="Cambria Math" panose="02040503050406030204" pitchFamily="18" charset="0"/>
                            <a:ea typeface="Cambria Math" panose="02040503050406030204" pitchFamily="18" charset="0"/>
                          </a:rPr>
                          <m:t>𝑎</m:t>
                        </m:r>
                      </m:sub>
                    </m:sSub>
                  </m:oMath>
                </a14:m>
                <a:br>
                  <a:rPr lang="en-US" sz="3600" dirty="0"/>
                </a:br>
                <a:r>
                  <a:rPr lang="ru-RU" dirty="0"/>
                  <a:t>М</a:t>
                </a:r>
                <a14:m>
                  <m:oMath xmlns:m="http://schemas.openxmlformats.org/officeDocument/2006/math">
                    <m:r>
                      <a:rPr lang="ru-RU">
                        <a:latin typeface="Cambria Math" panose="02040503050406030204" pitchFamily="18" charset="0"/>
                      </a:rPr>
                      <m:t>ожно записать</m:t>
                    </m:r>
                    <m:r>
                      <a:rPr lang="ru-RU" b="0" i="0" smtClean="0">
                        <a:latin typeface="Cambria Math" panose="02040503050406030204" pitchFamily="18" charset="0"/>
                      </a:rPr>
                      <m:t>             </m:t>
                    </m:r>
                    <m:r>
                      <a:rPr lang="ru-RU">
                        <a:latin typeface="Cambria Math" panose="02040503050406030204" pitchFamily="18" charset="0"/>
                      </a:rPr>
                      <m:t> </m:t>
                    </m:r>
                    <m:r>
                      <a:rPr lang="en-US">
                        <a:latin typeface="Cambria Math" panose="02040503050406030204" pitchFamily="18" charset="0"/>
                      </a:rPr>
                      <m:t>𝐴</m:t>
                    </m:r>
                  </m:oMath>
                </a14:m>
                <a:r>
                  <a:rPr lang="ru-RU" sz="3600" dirty="0"/>
                  <a:t>=</a:t>
                </a:r>
                <a:r>
                  <a:rPr lang="en-US" sz="3600" b="0" dirty="0"/>
                  <a:t> </a:t>
                </a:r>
                <a14:m>
                  <m:oMath xmlns:m="http://schemas.openxmlformats.org/officeDocument/2006/math">
                    <m:r>
                      <a:rPr lang="en-US" sz="3600" b="0" i="1" smtClean="0">
                        <a:latin typeface="Cambria Math" panose="02040503050406030204" pitchFamily="18" charset="0"/>
                      </a:rPr>
                      <m:t>𝑎</m:t>
                    </m:r>
                    <m:r>
                      <a:rPr lang="en-US" sz="3600" b="0" i="1" smtClean="0">
                        <a:latin typeface="Cambria Math" panose="02040503050406030204" pitchFamily="18" charset="0"/>
                        <a:ea typeface="Cambria Math" panose="02040503050406030204" pitchFamily="18" charset="0"/>
                      </a:rPr>
                      <m:t>±</m:t>
                    </m:r>
                  </m:oMath>
                </a14:m>
                <a:r>
                  <a:rPr lang="ru-RU" sz="3600" dirty="0">
                    <a:ea typeface="Cambria Math" panose="02040503050406030204" pitchFamily="18" charset="0"/>
                  </a:rPr>
                  <a:t> </a:t>
                </a:r>
                <a14:m>
                  <m:oMath xmlns:m="http://schemas.openxmlformats.org/officeDocument/2006/math">
                    <m:sSub>
                      <m:sSubPr>
                        <m:ctrlPr>
                          <a:rPr lang="ru-RU" sz="3600" i="1" smtClean="0">
                            <a:latin typeface="Cambria Math" panose="02040503050406030204" pitchFamily="18" charset="0"/>
                            <a:ea typeface="Cambria Math" panose="02040503050406030204" pitchFamily="18" charset="0"/>
                          </a:rPr>
                        </m:ctrlPr>
                      </m:sSubPr>
                      <m:e>
                        <m:r>
                          <a:rPr lang="ru-RU" sz="3600" i="1" smtClean="0">
                            <a:latin typeface="Cambria Math" panose="02040503050406030204" pitchFamily="18" charset="0"/>
                            <a:ea typeface="Cambria Math" panose="02040503050406030204" pitchFamily="18" charset="0"/>
                          </a:rPr>
                          <m:t>∆</m:t>
                        </m:r>
                      </m:e>
                      <m:sub>
                        <m:r>
                          <a:rPr lang="en-US" sz="3600" b="0" i="1" smtClean="0">
                            <a:latin typeface="Cambria Math" panose="02040503050406030204" pitchFamily="18" charset="0"/>
                            <a:ea typeface="Cambria Math" panose="02040503050406030204" pitchFamily="18" charset="0"/>
                          </a:rPr>
                          <m:t>𝑎</m:t>
                        </m:r>
                      </m:sub>
                    </m:sSub>
                  </m:oMath>
                </a14:m>
                <a:br>
                  <a:rPr lang="ru-RU" sz="3600" dirty="0"/>
                </a:br>
                <a:br>
                  <a:rPr lang="ru-RU" sz="3600" dirty="0"/>
                </a:br>
                <a:br>
                  <a:rPr lang="ru-RU" dirty="0"/>
                </a:br>
                <a:endParaRPr lang="ru-RU" dirty="0"/>
              </a:p>
            </p:txBody>
          </p:sp>
        </mc:Choice>
        <mc:Fallback xmlns="">
          <p:sp>
            <p:nvSpPr>
              <p:cNvPr id="2" name="Заголовок 1">
                <a:extLst>
                  <a:ext uri="{FF2B5EF4-FFF2-40B4-BE49-F238E27FC236}">
                    <a16:creationId xmlns:a16="http://schemas.microsoft.com/office/drawing/2014/main" id="{A49B585C-5635-463A-A201-4D3D6C43FB88}"/>
                  </a:ext>
                </a:extLst>
              </p:cNvPr>
              <p:cNvSpPr>
                <a:spLocks noGrp="1" noRot="1" noChangeAspect="1" noMove="1" noResize="1" noEditPoints="1" noAdjustHandles="1" noChangeArrowheads="1" noChangeShapeType="1" noTextEdit="1"/>
              </p:cNvSpPr>
              <p:nvPr>
                <p:ph type="title"/>
              </p:nvPr>
            </p:nvSpPr>
            <p:spPr>
              <a:xfrm>
                <a:off x="655094" y="313899"/>
                <a:ext cx="11081982" cy="6324646"/>
              </a:xfrm>
              <a:blipFill>
                <a:blip r:embed="rId2"/>
                <a:stretch>
                  <a:fillRect l="-2200" t="-3372"/>
                </a:stretch>
              </a:blipFill>
            </p:spPr>
            <p:txBody>
              <a:bodyPr/>
              <a:lstStyle/>
              <a:p>
                <a:r>
                  <a:rPr lang="ru-RU">
                    <a:noFill/>
                  </a:rPr>
                  <a:t> </a:t>
                </a:r>
              </a:p>
            </p:txBody>
          </p:sp>
        </mc:Fallback>
      </mc:AlternateContent>
    </p:spTree>
    <p:extLst>
      <p:ext uri="{BB962C8B-B14F-4D97-AF65-F5344CB8AC3E}">
        <p14:creationId xmlns:p14="http://schemas.microsoft.com/office/powerpoint/2010/main" val="2551757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Заголовок 1">
                <a:extLst>
                  <a:ext uri="{FF2B5EF4-FFF2-40B4-BE49-F238E27FC236}">
                    <a16:creationId xmlns:a16="http://schemas.microsoft.com/office/drawing/2014/main" id="{A49B585C-5635-463A-A201-4D3D6C43FB88}"/>
                  </a:ext>
                </a:extLst>
              </p:cNvPr>
              <p:cNvSpPr>
                <a:spLocks noGrp="1"/>
              </p:cNvSpPr>
              <p:nvPr>
                <p:ph type="title"/>
              </p:nvPr>
            </p:nvSpPr>
            <p:spPr>
              <a:xfrm>
                <a:off x="655094" y="641445"/>
                <a:ext cx="11081982" cy="5997100"/>
              </a:xfrm>
            </p:spPr>
            <p:txBody>
              <a:bodyPr anchor="t">
                <a:normAutofit fontScale="90000"/>
              </a:bodyPr>
              <a:lstStyle/>
              <a:p>
                <a:pPr algn="ctr"/>
                <a:r>
                  <a:rPr lang="ru-RU" sz="4900" dirty="0"/>
                  <a:t>Относительная погрешность</a:t>
                </a:r>
                <a:br>
                  <a:rPr lang="ru-RU" sz="4900" dirty="0"/>
                </a:br>
                <a:br>
                  <a:rPr lang="en-US" dirty="0"/>
                </a:br>
                <a:br>
                  <a:rPr lang="en-US" dirty="0"/>
                </a:br>
                <a14:m>
                  <m:oMath xmlns:m="http://schemas.openxmlformats.org/officeDocument/2006/math">
                    <m:sSub>
                      <m:sSubPr>
                        <m:ctrlPr>
                          <a:rPr lang="ru-RU" i="1" smtClean="0">
                            <a:latin typeface="Cambria Math" panose="02040503050406030204" pitchFamily="18" charset="0"/>
                            <a:ea typeface="Cambria Math" panose="02040503050406030204" pitchFamily="18" charset="0"/>
                          </a:rPr>
                        </m:ctrlPr>
                      </m:sSubPr>
                      <m:e>
                        <m:r>
                          <a:rPr lang="ru-RU" i="1" smtClean="0">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ea typeface="Cambria Math" panose="02040503050406030204" pitchFamily="18" charset="0"/>
                          </a:rPr>
                          <m:t>𝑎</m:t>
                        </m:r>
                      </m:sub>
                    </m:sSub>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num>
                          <m:den>
                            <m:r>
                              <a:rPr lang="en-US" b="0" i="1" smtClean="0">
                                <a:latin typeface="Cambria Math" panose="02040503050406030204" pitchFamily="18" charset="0"/>
                                <a:ea typeface="Cambria Math" panose="02040503050406030204" pitchFamily="18" charset="0"/>
                              </a:rPr>
                              <m:t>𝑎</m:t>
                            </m:r>
                          </m:den>
                        </m:f>
                      </m:e>
                    </m:d>
                    <m:r>
                      <a:rPr lang="en-US" b="0" i="0"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𝑎</m:t>
                    </m:r>
                  </m:oMath>
                </a14:m>
                <a:r>
                  <a:rPr lang="ru-RU" sz="3600" dirty="0"/>
                  <a:t>≠</a:t>
                </a:r>
                <a:r>
                  <a:rPr lang="en-US" sz="3600" dirty="0"/>
                  <a:t>0	</a:t>
                </a:r>
                <a14:m>
                  <m:oMath xmlns:m="http://schemas.openxmlformats.org/officeDocument/2006/math">
                    <m:r>
                      <a:rPr lang="en-US" sz="3600" b="0" i="1" smtClean="0">
                        <a:latin typeface="Cambria Math" panose="02040503050406030204" pitchFamily="18" charset="0"/>
                      </a:rPr>
                      <m:t>⇒</m:t>
                    </m:r>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ea typeface="Cambria Math" panose="02040503050406030204" pitchFamily="18" charset="0"/>
                          </a:rPr>
                          <m:t>𝛿</m:t>
                        </m:r>
                      </m:e>
                      <m:sub>
                        <m:r>
                          <a:rPr lang="en-US" sz="3600" b="0" i="1" smtClean="0">
                            <a:latin typeface="Cambria Math" panose="02040503050406030204" pitchFamily="18" charset="0"/>
                          </a:rPr>
                          <m:t>𝑎</m:t>
                        </m:r>
                      </m:sub>
                    </m:sSub>
                  </m:oMath>
                </a14:m>
                <a:r>
                  <a:rPr lang="en-US" sz="3600" dirty="0"/>
                  <a:t>=</a:t>
                </a:r>
                <a14:m>
                  <m:oMath xmlns:m="http://schemas.openxmlformats.org/officeDocument/2006/math">
                    <m:f>
                      <m:fPr>
                        <m:ctrlPr>
                          <a:rPr lang="en-US" sz="3600" i="1" dirty="0" smtClean="0">
                            <a:latin typeface="Cambria Math" panose="02040503050406030204" pitchFamily="18" charset="0"/>
                          </a:rPr>
                        </m:ctrlPr>
                      </m:fPr>
                      <m:num>
                        <m:sSub>
                          <m:sSubPr>
                            <m:ctrlPr>
                              <a:rPr lang="en-US" sz="3600" i="1" dirty="0" smtClean="0">
                                <a:latin typeface="Cambria Math" panose="02040503050406030204" pitchFamily="18" charset="0"/>
                              </a:rPr>
                            </m:ctrlPr>
                          </m:sSubPr>
                          <m:e>
                            <m:r>
                              <a:rPr lang="en-US" sz="3600" i="1" dirty="0" smtClean="0">
                                <a:latin typeface="Cambria Math" panose="02040503050406030204" pitchFamily="18" charset="0"/>
                                <a:ea typeface="Cambria Math" panose="02040503050406030204" pitchFamily="18" charset="0"/>
                              </a:rPr>
                              <m:t>∆</m:t>
                            </m:r>
                          </m:e>
                          <m:sub>
                            <m:r>
                              <a:rPr lang="en-US" sz="3600" b="0" i="1" dirty="0" smtClean="0">
                                <a:latin typeface="Cambria Math" panose="02040503050406030204" pitchFamily="18" charset="0"/>
                              </a:rPr>
                              <m:t>𝑎</m:t>
                            </m:r>
                          </m:sub>
                        </m:sSub>
                      </m:num>
                      <m:den>
                        <m:d>
                          <m:dPr>
                            <m:begChr m:val="|"/>
                            <m:endChr m:val="|"/>
                            <m:ctrlPr>
                              <a:rPr lang="en-US" sz="3600" i="1" dirty="0" smtClean="0">
                                <a:latin typeface="Cambria Math" panose="02040503050406030204" pitchFamily="18" charset="0"/>
                              </a:rPr>
                            </m:ctrlPr>
                          </m:dPr>
                          <m:e>
                            <m:r>
                              <a:rPr lang="en-US" sz="3600" b="0" i="1" dirty="0" smtClean="0">
                                <a:latin typeface="Cambria Math" panose="02040503050406030204" pitchFamily="18" charset="0"/>
                              </a:rPr>
                              <m:t>𝑎</m:t>
                            </m:r>
                          </m:e>
                        </m:d>
                      </m:den>
                    </m:f>
                  </m:oMath>
                </a14:m>
                <a:r>
                  <a:rPr lang="en-US" sz="3600" dirty="0"/>
                  <a:t>	</a:t>
                </a:r>
                <a:br>
                  <a:rPr lang="ru-RU" sz="3600" dirty="0"/>
                </a:br>
                <a:br>
                  <a:rPr lang="ru-RU" sz="3600" dirty="0"/>
                </a:br>
                <a:r>
                  <a:rPr lang="ru-RU" sz="3600" dirty="0"/>
                  <a:t>и </a:t>
                </a:r>
                <a14:m>
                  <m:oMath xmlns:m="http://schemas.openxmlformats.org/officeDocument/2006/math">
                    <m:r>
                      <a:rPr lang="en-US" sz="3600" b="0" i="1" smtClean="0">
                        <a:latin typeface="Cambria Math" panose="02040503050406030204" pitchFamily="18" charset="0"/>
                      </a:rPr>
                      <m:t>𝐴</m:t>
                    </m:r>
                    <m:r>
                      <a:rPr lang="en-US" sz="3600" b="0" i="1" smtClean="0">
                        <a:latin typeface="Cambria Math" panose="02040503050406030204" pitchFamily="18" charset="0"/>
                      </a:rPr>
                      <m:t>=</m:t>
                    </m:r>
                    <m:r>
                      <a:rPr lang="en-US" sz="3600" b="0" i="1" smtClean="0">
                        <a:latin typeface="Cambria Math" panose="02040503050406030204" pitchFamily="18" charset="0"/>
                      </a:rPr>
                      <m:t>𝑎</m:t>
                    </m:r>
                    <m:r>
                      <a:rPr lang="en-US" sz="3600" b="0" i="1" smtClean="0">
                        <a:latin typeface="Cambria Math" panose="02040503050406030204" pitchFamily="18" charset="0"/>
                      </a:rPr>
                      <m:t>(1±</m:t>
                    </m:r>
                    <m:sSub>
                      <m:sSubPr>
                        <m:ctrlPr>
                          <a:rPr lang="en-US" sz="3600" b="0" i="1" smtClean="0">
                            <a:latin typeface="Cambria Math" panose="02040503050406030204" pitchFamily="18" charset="0"/>
                            <a:ea typeface="Cambria Math" panose="02040503050406030204" pitchFamily="18" charset="0"/>
                          </a:rPr>
                        </m:ctrlPr>
                      </m:sSubPr>
                      <m:e>
                        <m:r>
                          <a:rPr lang="en-US" sz="3600" b="0" i="1" smtClean="0">
                            <a:latin typeface="Cambria Math" panose="02040503050406030204" pitchFamily="18" charset="0"/>
                            <a:ea typeface="Cambria Math" panose="02040503050406030204" pitchFamily="18" charset="0"/>
                          </a:rPr>
                          <m:t>𝛿</m:t>
                        </m:r>
                      </m:e>
                      <m:sub>
                        <m:r>
                          <a:rPr lang="en-US" sz="3600" b="0" i="1" smtClean="0">
                            <a:latin typeface="Cambria Math" panose="02040503050406030204" pitchFamily="18" charset="0"/>
                            <a:ea typeface="Cambria Math" panose="02040503050406030204" pitchFamily="18" charset="0"/>
                          </a:rPr>
                          <m:t>𝑎</m:t>
                        </m:r>
                      </m:sub>
                    </m:sSub>
                  </m:oMath>
                </a14:m>
                <a:r>
                  <a:rPr lang="en-US" dirty="0"/>
                  <a:t>)</a:t>
                </a:r>
                <a:br>
                  <a:rPr lang="en-US" dirty="0"/>
                </a:br>
                <a:br>
                  <a:rPr lang="ru-RU"/>
                </a:br>
                <a:r>
                  <a:rPr lang="ru-RU"/>
                  <a:t>Относительную </a:t>
                </a:r>
                <a:r>
                  <a:rPr lang="ru-RU" dirty="0"/>
                  <a:t>погрешность часто выражают в процентах</a:t>
                </a:r>
                <a:br>
                  <a:rPr lang="ru-RU" dirty="0"/>
                </a:br>
                <a:endParaRPr lang="ru-RU" dirty="0"/>
              </a:p>
            </p:txBody>
          </p:sp>
        </mc:Choice>
        <mc:Fallback>
          <p:sp>
            <p:nvSpPr>
              <p:cNvPr id="2" name="Заголовок 1">
                <a:extLst>
                  <a:ext uri="{FF2B5EF4-FFF2-40B4-BE49-F238E27FC236}">
                    <a16:creationId xmlns:a16="http://schemas.microsoft.com/office/drawing/2014/main" id="{A49B585C-5635-463A-A201-4D3D6C43FB88}"/>
                  </a:ext>
                </a:extLst>
              </p:cNvPr>
              <p:cNvSpPr>
                <a:spLocks noGrp="1" noRot="1" noChangeAspect="1" noMove="1" noResize="1" noEditPoints="1" noAdjustHandles="1" noChangeArrowheads="1" noChangeShapeType="1" noTextEdit="1"/>
              </p:cNvSpPr>
              <p:nvPr>
                <p:ph type="title"/>
              </p:nvPr>
            </p:nvSpPr>
            <p:spPr>
              <a:xfrm>
                <a:off x="655094" y="641445"/>
                <a:ext cx="11081982" cy="5997100"/>
              </a:xfrm>
              <a:blipFill>
                <a:blip r:embed="rId2"/>
                <a:stretch>
                  <a:fillRect t="-3150"/>
                </a:stretch>
              </a:blipFill>
            </p:spPr>
            <p:txBody>
              <a:bodyPr/>
              <a:lstStyle/>
              <a:p>
                <a:r>
                  <a:rPr lang="ru-RU">
                    <a:noFill/>
                  </a:rPr>
                  <a:t> </a:t>
                </a:r>
              </a:p>
            </p:txBody>
          </p:sp>
        </mc:Fallback>
      </mc:AlternateContent>
    </p:spTree>
    <p:extLst>
      <p:ext uri="{BB962C8B-B14F-4D97-AF65-F5344CB8AC3E}">
        <p14:creationId xmlns:p14="http://schemas.microsoft.com/office/powerpoint/2010/main" val="19568659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9B585C-5635-463A-A201-4D3D6C43FB88}"/>
              </a:ext>
            </a:extLst>
          </p:cNvPr>
          <p:cNvSpPr>
            <a:spLocks noGrp="1"/>
          </p:cNvSpPr>
          <p:nvPr>
            <p:ph type="title"/>
          </p:nvPr>
        </p:nvSpPr>
        <p:spPr>
          <a:xfrm>
            <a:off x="655094" y="313899"/>
            <a:ext cx="11081982" cy="6324646"/>
          </a:xfrm>
        </p:spPr>
        <p:txBody>
          <a:bodyPr anchor="t">
            <a:normAutofit fontScale="90000"/>
          </a:bodyPr>
          <a:lstStyle/>
          <a:p>
            <a:r>
              <a:rPr lang="ru-RU" dirty="0"/>
              <a:t>				</a:t>
            </a:r>
            <a:r>
              <a:rPr lang="ru-RU" sz="4900" dirty="0" err="1"/>
              <a:t>Справочно</a:t>
            </a:r>
            <a:br>
              <a:rPr lang="ru-RU" sz="4900" dirty="0"/>
            </a:br>
            <a:r>
              <a:rPr lang="ru-RU" sz="4900" dirty="0"/>
              <a:t>			Верные значащие цифры</a:t>
            </a:r>
            <a:br>
              <a:rPr lang="ru-RU" dirty="0"/>
            </a:br>
            <a:br>
              <a:rPr lang="ru-RU" dirty="0"/>
            </a:br>
            <a:r>
              <a:rPr lang="ru-RU" dirty="0"/>
              <a:t>Значащими цифрами числа называются все его цифры, кроме нулей, стоящих левее отличной от нуля цифры. НУЛИ СПРАВА – ЗНАЧАЩИЕ.</a:t>
            </a:r>
            <a:br>
              <a:rPr lang="ru-RU" dirty="0"/>
            </a:br>
            <a:r>
              <a:rPr lang="ru-RU" dirty="0"/>
              <a:t>Абсолютная погрешность – половина следующего разряда за последней значащей цифрой.</a:t>
            </a:r>
            <a:br>
              <a:rPr lang="ru-RU" dirty="0"/>
            </a:br>
            <a:r>
              <a:rPr lang="ru-RU" dirty="0"/>
              <a:t>Все вещественные числа в ЭВМ  представлены с некоторой точностью. Например, для 32 битного числа точность 6 10</a:t>
            </a:r>
            <a:r>
              <a:rPr lang="ru-RU" baseline="30000" dirty="0"/>
              <a:t>-8 </a:t>
            </a:r>
            <a:r>
              <a:rPr lang="ru-RU" dirty="0"/>
              <a:t>(т.н. машинный ноль)</a:t>
            </a:r>
            <a:br>
              <a:rPr lang="ru-RU" dirty="0"/>
            </a:br>
            <a:br>
              <a:rPr lang="ru-RU" sz="3600" dirty="0"/>
            </a:br>
            <a:br>
              <a:rPr lang="ru-RU" dirty="0"/>
            </a:br>
            <a:endParaRPr lang="ru-RU" dirty="0"/>
          </a:p>
        </p:txBody>
      </p:sp>
    </p:spTree>
    <p:extLst>
      <p:ext uri="{BB962C8B-B14F-4D97-AF65-F5344CB8AC3E}">
        <p14:creationId xmlns:p14="http://schemas.microsoft.com/office/powerpoint/2010/main" val="3979538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Заголовок 1">
                <a:extLst>
                  <a:ext uri="{FF2B5EF4-FFF2-40B4-BE49-F238E27FC236}">
                    <a16:creationId xmlns:a16="http://schemas.microsoft.com/office/drawing/2014/main" id="{A49B585C-5635-463A-A201-4D3D6C43FB88}"/>
                  </a:ext>
                </a:extLst>
              </p:cNvPr>
              <p:cNvSpPr>
                <a:spLocks noGrp="1"/>
              </p:cNvSpPr>
              <p:nvPr>
                <p:ph type="title"/>
              </p:nvPr>
            </p:nvSpPr>
            <p:spPr>
              <a:xfrm>
                <a:off x="655094" y="313899"/>
                <a:ext cx="11081982" cy="6324646"/>
              </a:xfrm>
            </p:spPr>
            <p:txBody>
              <a:bodyPr anchor="t">
                <a:normAutofit fontScale="90000"/>
              </a:bodyPr>
              <a:lstStyle/>
              <a:p>
                <a:r>
                  <a:rPr lang="ru-RU" dirty="0"/>
                  <a:t>Погрешность арифметических вычислений</a:t>
                </a:r>
                <a:br>
                  <a:rPr lang="ru-RU" dirty="0"/>
                </a:br>
                <a:r>
                  <a:rPr lang="ru-RU" dirty="0"/>
                  <a:t>		Сумма и разность</a:t>
                </a:r>
                <a:br>
                  <a:rPr lang="ru-RU" dirty="0"/>
                </a:br>
                <a:r>
                  <a:rPr lang="ru-RU" dirty="0"/>
                  <a:t>Пусть </a:t>
                </a: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𝑖</m:t>
                            </m:r>
                          </m:sub>
                        </m:sSub>
                      </m:e>
                    </m:nary>
                  </m:oMath>
                </a14:m>
                <a:r>
                  <a:rPr lang="en-US" dirty="0"/>
                  <a:t> - </a:t>
                </a:r>
                <a:r>
                  <a:rPr lang="ru-RU" dirty="0"/>
                  <a:t>сумма точных значений</a:t>
                </a:r>
                <a:br>
                  <a:rPr lang="ru-RU" dirty="0"/>
                </a:br>
                <a14:m>
                  <m:oMath xmlns:m="http://schemas.openxmlformats.org/officeDocument/2006/math">
                    <m:r>
                      <a:rPr lang="en-US" b="0" i="0"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sub>
                        </m:sSub>
                      </m:e>
                    </m:nary>
                    <m:r>
                      <a:rPr lang="en-US" b="0" i="1" smtClean="0">
                        <a:latin typeface="Cambria Math" panose="02040503050406030204" pitchFamily="18" charset="0"/>
                      </a:rPr>
                      <m:t> </m:t>
                    </m:r>
                  </m:oMath>
                </a14:m>
                <a:r>
                  <a:rPr lang="ru-RU" dirty="0"/>
                  <a:t>	</a:t>
                </a:r>
                <a:r>
                  <a:rPr lang="en-US" dirty="0"/>
                  <a:t>- </a:t>
                </a:r>
                <a:r>
                  <a:rPr lang="ru-RU" dirty="0"/>
                  <a:t>сумма приближённых значений. Тогда</a:t>
                </a:r>
                <a:br>
                  <a:rPr lang="ru-RU" dirty="0"/>
                </a:br>
                <a:r>
                  <a:rPr lang="en-US" b="1" i="1" dirty="0"/>
                  <a:t>A-a = (A</a:t>
                </a:r>
                <a:r>
                  <a:rPr lang="en-US" b="1" i="1" baseline="-25000" dirty="0"/>
                  <a:t>1</a:t>
                </a:r>
                <a:r>
                  <a:rPr lang="en-US" b="1" i="1" dirty="0"/>
                  <a:t>-a</a:t>
                </a:r>
                <a:r>
                  <a:rPr lang="en-US" b="1" i="1" baseline="-25000" dirty="0"/>
                  <a:t>1</a:t>
                </a:r>
                <a:r>
                  <a:rPr lang="en-US" b="1" i="1" dirty="0"/>
                  <a:t>)+(A</a:t>
                </a:r>
                <a:r>
                  <a:rPr lang="en-US" b="1" i="1" baseline="-25000" dirty="0"/>
                  <a:t>2</a:t>
                </a:r>
                <a:r>
                  <a:rPr lang="en-US" b="1" i="1" dirty="0"/>
                  <a:t>-a</a:t>
                </a:r>
                <a:r>
                  <a:rPr lang="en-US" b="1" i="1" baseline="-25000" dirty="0"/>
                  <a:t>2</a:t>
                </a:r>
                <a:r>
                  <a:rPr lang="en-US" b="1" i="1" dirty="0"/>
                  <a:t>)+…+(A</a:t>
                </a:r>
                <a:r>
                  <a:rPr lang="en-US" b="1" i="1" baseline="-25000" dirty="0"/>
                  <a:t>n</a:t>
                </a:r>
                <a:r>
                  <a:rPr lang="en-US" b="1" i="1" dirty="0"/>
                  <a:t>-a</a:t>
                </a:r>
                <a:r>
                  <a:rPr lang="en-US" b="1" i="1" baseline="-25000" dirty="0"/>
                  <a:t>n</a:t>
                </a:r>
                <a:r>
                  <a:rPr lang="en-US" b="1" i="1" dirty="0"/>
                  <a:t>)</a:t>
                </a:r>
                <a:br>
                  <a:rPr lang="en-US" b="1" i="1" dirty="0"/>
                </a:br>
                <a:r>
                  <a:rPr lang="ru-RU" dirty="0"/>
                  <a:t>Переходя к модулям получим, что абсолютная погрешность суммы меньше или равна сумме абсолютных погрешностей. Аналогично для разности. </a:t>
                </a:r>
                <a:br>
                  <a:rPr lang="en-US" b="1" i="1" dirty="0"/>
                </a:br>
                <a:r>
                  <a:rPr lang="ru-RU" dirty="0"/>
                  <a:t>	</a:t>
                </a:r>
                <a:br>
                  <a:rPr lang="ru-RU" dirty="0"/>
                </a:br>
                <a:br>
                  <a:rPr lang="ru-RU" sz="3600" dirty="0"/>
                </a:br>
                <a:br>
                  <a:rPr lang="ru-RU" dirty="0"/>
                </a:br>
                <a:endParaRPr lang="ru-RU" dirty="0"/>
              </a:p>
            </p:txBody>
          </p:sp>
        </mc:Choice>
        <mc:Fallback xmlns="">
          <p:sp>
            <p:nvSpPr>
              <p:cNvPr id="2" name="Заголовок 1">
                <a:extLst>
                  <a:ext uri="{FF2B5EF4-FFF2-40B4-BE49-F238E27FC236}">
                    <a16:creationId xmlns:a16="http://schemas.microsoft.com/office/drawing/2014/main" id="{A49B585C-5635-463A-A201-4D3D6C43FB88}"/>
                  </a:ext>
                </a:extLst>
              </p:cNvPr>
              <p:cNvSpPr>
                <a:spLocks noGrp="1" noRot="1" noChangeAspect="1" noMove="1" noResize="1" noEditPoints="1" noAdjustHandles="1" noChangeArrowheads="1" noChangeShapeType="1" noTextEdit="1"/>
              </p:cNvSpPr>
              <p:nvPr>
                <p:ph type="title"/>
              </p:nvPr>
            </p:nvSpPr>
            <p:spPr>
              <a:xfrm>
                <a:off x="655094" y="313899"/>
                <a:ext cx="11081982" cy="6324646"/>
              </a:xfrm>
              <a:blipFill>
                <a:blip r:embed="rId2"/>
                <a:stretch>
                  <a:fillRect l="-1925" t="-2697"/>
                </a:stretch>
              </a:blipFill>
            </p:spPr>
            <p:txBody>
              <a:bodyPr/>
              <a:lstStyle/>
              <a:p>
                <a:r>
                  <a:rPr lang="ru-RU">
                    <a:noFill/>
                  </a:rPr>
                  <a:t> </a:t>
                </a:r>
              </a:p>
            </p:txBody>
          </p:sp>
        </mc:Fallback>
      </mc:AlternateContent>
    </p:spTree>
    <p:extLst>
      <p:ext uri="{BB962C8B-B14F-4D97-AF65-F5344CB8AC3E}">
        <p14:creationId xmlns:p14="http://schemas.microsoft.com/office/powerpoint/2010/main" val="498716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Заголовок 1">
                <a:extLst>
                  <a:ext uri="{FF2B5EF4-FFF2-40B4-BE49-F238E27FC236}">
                    <a16:creationId xmlns:a16="http://schemas.microsoft.com/office/drawing/2014/main" id="{A97652B6-C397-9928-9ED2-117C077D004B}"/>
                  </a:ext>
                </a:extLst>
              </p:cNvPr>
              <p:cNvSpPr>
                <a:spLocks noGrp="1"/>
              </p:cNvSpPr>
              <p:nvPr>
                <p:ph type="title"/>
              </p:nvPr>
            </p:nvSpPr>
            <p:spPr>
              <a:xfrm>
                <a:off x="838200" y="365125"/>
                <a:ext cx="10515600" cy="6175634"/>
              </a:xfrm>
            </p:spPr>
            <p:txBody>
              <a:bodyPr>
                <a:normAutofit/>
              </a:bodyPr>
              <a:lstStyle/>
              <a:p>
                <a:r>
                  <a:rPr lang="ru-RU" dirty="0"/>
                  <a:t>Погрешность произведения</a:t>
                </a:r>
                <a:br>
                  <a:rPr lang="ru-RU" dirty="0"/>
                </a:br>
                <a:r>
                  <a:rPr lang="en-US" dirty="0"/>
                  <a:t>A=A</a:t>
                </a:r>
                <a:r>
                  <a:rPr lang="en-US" baseline="-25000" dirty="0"/>
                  <a:t>1</a:t>
                </a:r>
                <a:r>
                  <a:rPr lang="en-US" dirty="0"/>
                  <a:t>·A</a:t>
                </a:r>
                <a:r>
                  <a:rPr lang="en-US" baseline="-25000" dirty="0"/>
                  <a:t>2 </a:t>
                </a:r>
                <a:r>
                  <a:rPr lang="ru-RU" dirty="0"/>
                  <a:t>точные и </a:t>
                </a:r>
                <a:r>
                  <a:rPr lang="en-US" dirty="0"/>
                  <a:t>a=a</a:t>
                </a:r>
                <a:r>
                  <a:rPr lang="en-US" baseline="-25000" dirty="0"/>
                  <a:t>1</a:t>
                </a:r>
                <a:r>
                  <a:rPr lang="en-US" dirty="0"/>
                  <a:t>·a</a:t>
                </a:r>
                <a:r>
                  <a:rPr lang="en-US" baseline="-25000" dirty="0"/>
                  <a:t>2</a:t>
                </a:r>
                <a:r>
                  <a:rPr lang="en-US" dirty="0"/>
                  <a:t> </a:t>
                </a:r>
                <a:r>
                  <a:rPr lang="ru-RU" dirty="0"/>
                  <a:t>приближенные значения и известны </a:t>
                </a:r>
                <a14:m>
                  <m:oMath xmlns:m="http://schemas.openxmlformats.org/officeDocument/2006/math">
                    <m:sSub>
                      <m:sSubPr>
                        <m:ctrlPr>
                          <a:rPr lang="ru-RU" i="1" smtClean="0">
                            <a:latin typeface="Cambria Math" panose="02040503050406030204" pitchFamily="18" charset="0"/>
                            <a:ea typeface="Cambria Math" panose="02040503050406030204" pitchFamily="18" charset="0"/>
                          </a:rPr>
                        </m:ctrlPr>
                      </m:sSubPr>
                      <m:e>
                        <m:r>
                          <a:rPr lang="ru-RU" i="1" smtClean="0">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ea typeface="Cambria Math" panose="02040503050406030204" pitchFamily="18" charset="0"/>
                          </a:rPr>
                          <m:t>𝑎</m:t>
                        </m:r>
                        <m:r>
                          <a:rPr lang="ru-RU" b="0" i="1" baseline="-25000" smtClean="0">
                            <a:latin typeface="Cambria Math" panose="02040503050406030204" pitchFamily="18" charset="0"/>
                            <a:ea typeface="Cambria Math" panose="02040503050406030204" pitchFamily="18" charset="0"/>
                          </a:rPr>
                          <m:t>1</m:t>
                        </m:r>
                      </m:sub>
                    </m:sSub>
                  </m:oMath>
                </a14:m>
                <a:r>
                  <a:rPr lang="ru-RU" dirty="0"/>
                  <a:t>и </a:t>
                </a:r>
                <a14:m>
                  <m:oMath xmlns:m="http://schemas.openxmlformats.org/officeDocument/2006/math">
                    <m:sSub>
                      <m:sSubPr>
                        <m:ctrlPr>
                          <a:rPr lang="ru-RU" i="1">
                            <a:latin typeface="Cambria Math" panose="02040503050406030204" pitchFamily="18" charset="0"/>
                            <a:ea typeface="Cambria Math" panose="02040503050406030204" pitchFamily="18" charset="0"/>
                          </a:rPr>
                        </m:ctrlPr>
                      </m:sSubPr>
                      <m:e>
                        <m:r>
                          <a:rPr lang="ru-RU"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𝑎</m:t>
                        </m:r>
                        <m:r>
                          <a:rPr lang="ru-RU" b="0" i="1" baseline="-25000" smtClean="0">
                            <a:latin typeface="Cambria Math" panose="02040503050406030204" pitchFamily="18" charset="0"/>
                            <a:ea typeface="Cambria Math" panose="02040503050406030204" pitchFamily="18" charset="0"/>
                          </a:rPr>
                          <m:t>2</m:t>
                        </m:r>
                      </m:sub>
                    </m:sSub>
                  </m:oMath>
                </a14:m>
                <a:br>
                  <a:rPr lang="ru-RU" dirty="0"/>
                </a:br>
                <a:r>
                  <a:rPr lang="ru-RU" dirty="0"/>
                  <a:t>Выразим </a:t>
                </a:r>
                <a:r>
                  <a:rPr lang="en-US" dirty="0"/>
                  <a:t>A</a:t>
                </a:r>
                <a:r>
                  <a:rPr lang="en-US" baseline="-25000" dirty="0"/>
                  <a:t>1</a:t>
                </a:r>
                <a:r>
                  <a:rPr lang="en-US" dirty="0"/>
                  <a:t> </a:t>
                </a:r>
                <a:r>
                  <a:rPr lang="ru-RU" dirty="0"/>
                  <a:t>и </a:t>
                </a:r>
                <a:r>
                  <a:rPr lang="en-US" dirty="0"/>
                  <a:t>A</a:t>
                </a:r>
                <a:r>
                  <a:rPr lang="en-US" baseline="-25000" dirty="0"/>
                  <a:t>2</a:t>
                </a:r>
                <a:r>
                  <a:rPr lang="en-US" dirty="0"/>
                  <a:t> </a:t>
                </a:r>
                <a:r>
                  <a:rPr lang="ru-RU" dirty="0"/>
                  <a:t>как </a:t>
                </a:r>
                <a:r>
                  <a:rPr lang="en-US" dirty="0"/>
                  <a:t>A</a:t>
                </a:r>
                <a:r>
                  <a:rPr lang="en-US" baseline="-25000" dirty="0"/>
                  <a:t>1</a:t>
                </a:r>
                <a:r>
                  <a:rPr lang="en-US" dirty="0"/>
                  <a:t>=a</a:t>
                </a:r>
                <a:r>
                  <a:rPr lang="en-US" baseline="-25000" dirty="0"/>
                  <a:t>1</a:t>
                </a:r>
                <a:r>
                  <a:rPr lang="en-US" dirty="0"/>
                  <a:t>+</a:t>
                </a:r>
                <a:r>
                  <a:rPr lang="el-GR" dirty="0"/>
                  <a:t>Δ</a:t>
                </a:r>
                <a:r>
                  <a:rPr lang="en-US" baseline="-25000" dirty="0"/>
                  <a:t>1 </a:t>
                </a:r>
                <a:r>
                  <a:rPr lang="ru-RU" dirty="0"/>
                  <a:t>и </a:t>
                </a:r>
                <a:r>
                  <a:rPr lang="en-US" dirty="0"/>
                  <a:t>A</a:t>
                </a:r>
                <a:r>
                  <a:rPr lang="ru-RU" baseline="-25000" dirty="0"/>
                  <a:t>2</a:t>
                </a:r>
                <a:r>
                  <a:rPr lang="en-US" dirty="0"/>
                  <a:t>=a</a:t>
                </a:r>
                <a:r>
                  <a:rPr lang="ru-RU" baseline="-25000" dirty="0"/>
                  <a:t>2</a:t>
                </a:r>
                <a:r>
                  <a:rPr lang="en-US" dirty="0"/>
                  <a:t>+</a:t>
                </a:r>
                <a:r>
                  <a:rPr lang="el-GR" dirty="0"/>
                  <a:t>Δ</a:t>
                </a:r>
                <a:r>
                  <a:rPr lang="ru-RU" baseline="-25000" dirty="0"/>
                  <a:t>2</a:t>
                </a:r>
                <a:r>
                  <a:rPr lang="ru-RU" dirty="0"/>
                  <a:t>,</a:t>
                </a:r>
                <a:r>
                  <a:rPr lang="en-US" baseline="-25000" dirty="0"/>
                  <a:t> </a:t>
                </a:r>
                <a:br>
                  <a:rPr lang="ru-RU" baseline="-25000" dirty="0"/>
                </a:br>
                <a:r>
                  <a:rPr lang="ru-RU" dirty="0"/>
                  <a:t>перемножим, найдем разность </a:t>
                </a:r>
                <a:r>
                  <a:rPr lang="el-GR" dirty="0"/>
                  <a:t>Ι</a:t>
                </a:r>
                <a:r>
                  <a:rPr lang="en-US" dirty="0"/>
                  <a:t> A</a:t>
                </a:r>
                <a:r>
                  <a:rPr lang="en-US" baseline="-25000" dirty="0"/>
                  <a:t>1</a:t>
                </a:r>
                <a:r>
                  <a:rPr lang="en-US" dirty="0"/>
                  <a:t>A</a:t>
                </a:r>
                <a:r>
                  <a:rPr lang="en-US" baseline="-25000" dirty="0"/>
                  <a:t>2</a:t>
                </a:r>
                <a:r>
                  <a:rPr lang="en-US" dirty="0"/>
                  <a:t>-a</a:t>
                </a:r>
                <a:r>
                  <a:rPr lang="en-US" baseline="-25000" dirty="0"/>
                  <a:t>1</a:t>
                </a:r>
                <a:r>
                  <a:rPr lang="en-US" dirty="0"/>
                  <a:t>a</a:t>
                </a:r>
                <a:r>
                  <a:rPr lang="en-US" baseline="-25000" dirty="0"/>
                  <a:t>2</a:t>
                </a:r>
                <a:r>
                  <a:rPr lang="el-GR" dirty="0"/>
                  <a:t> Ι</a:t>
                </a:r>
                <a:br>
                  <a:rPr lang="en-US" dirty="0"/>
                </a:br>
                <a:r>
                  <a:rPr lang="ru-RU" dirty="0"/>
                  <a:t>разделим на </a:t>
                </a:r>
                <a:r>
                  <a:rPr lang="el-GR" dirty="0"/>
                  <a:t>Ι</a:t>
                </a:r>
                <a:r>
                  <a:rPr lang="en-US" dirty="0"/>
                  <a:t> a</a:t>
                </a:r>
                <a:r>
                  <a:rPr lang="en-US" baseline="-25000" dirty="0"/>
                  <a:t>1</a:t>
                </a:r>
                <a:r>
                  <a:rPr lang="en-US" dirty="0"/>
                  <a:t>a</a:t>
                </a:r>
                <a:r>
                  <a:rPr lang="en-US" baseline="-25000" dirty="0"/>
                  <a:t>2</a:t>
                </a:r>
                <a:r>
                  <a:rPr lang="el-GR" dirty="0"/>
                  <a:t> Ι</a:t>
                </a:r>
                <a:r>
                  <a:rPr lang="ru-RU" dirty="0"/>
                  <a:t> и учтем, что </a:t>
                </a:r>
                <a:r>
                  <a:rPr lang="el-GR" dirty="0"/>
                  <a:t>Ι</a:t>
                </a:r>
                <a:r>
                  <a:rPr lang="en-US" dirty="0"/>
                  <a:t> </a:t>
                </a:r>
                <a:r>
                  <a:rPr lang="el-GR" dirty="0"/>
                  <a:t>Δ</a:t>
                </a:r>
                <a:r>
                  <a:rPr lang="en-US" baseline="-25000" dirty="0"/>
                  <a:t>1</a:t>
                </a:r>
                <a:r>
                  <a:rPr lang="el-GR" dirty="0"/>
                  <a:t> Δ</a:t>
                </a:r>
                <a:r>
                  <a:rPr lang="en-US" baseline="-25000" dirty="0"/>
                  <a:t>2</a:t>
                </a:r>
                <a:r>
                  <a:rPr lang="el-GR" dirty="0"/>
                  <a:t> Ι</a:t>
                </a:r>
                <a:r>
                  <a:rPr lang="ru-RU" dirty="0"/>
                  <a:t> мало</a:t>
                </a:r>
                <a:br>
                  <a:rPr lang="ru-RU" dirty="0"/>
                </a:br>
                <a:r>
                  <a:rPr lang="ru-RU" dirty="0"/>
                  <a:t>Получим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rPr>
                          <m:t>𝑎</m:t>
                        </m:r>
                      </m:sub>
                    </m:sSub>
                  </m:oMath>
                </a14:m>
                <a:r>
                  <a:rPr lang="ru-RU" dirty="0"/>
                  <a:t>=</a:t>
                </a:r>
                <a:r>
                  <a:rPr lang="ru-RU" dirty="0">
                    <a:ea typeface="Cambria Math" panose="02040503050406030204" pitchFamily="18" charset="0"/>
                  </a:rPr>
                  <a:t> </a:t>
                </a:r>
                <a14:m>
                  <m:oMath xmlns:m="http://schemas.openxmlformats.org/officeDocument/2006/math">
                    <m:sSub>
                      <m:sSubPr>
                        <m:ctrlPr>
                          <a:rPr lang="ru-RU" i="1">
                            <a:latin typeface="Cambria Math" panose="02040503050406030204" pitchFamily="18" charset="0"/>
                            <a:ea typeface="Cambria Math" panose="02040503050406030204" pitchFamily="18" charset="0"/>
                          </a:rPr>
                        </m:ctrlPr>
                      </m:sSubPr>
                      <m:e>
                        <m:r>
                          <a:rPr lang="ru-RU"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𝑎</m:t>
                        </m:r>
                        <m:r>
                          <a:rPr lang="ru-RU" i="1" baseline="-25000">
                            <a:latin typeface="Cambria Math" panose="02040503050406030204" pitchFamily="18" charset="0"/>
                            <a:ea typeface="Cambria Math" panose="02040503050406030204" pitchFamily="18" charset="0"/>
                          </a:rPr>
                          <m:t>1</m:t>
                        </m:r>
                      </m:sub>
                    </m:sSub>
                  </m:oMath>
                </a14:m>
                <a:r>
                  <a:rPr lang="ru-RU" dirty="0"/>
                  <a:t>+ </a:t>
                </a:r>
                <a14:m>
                  <m:oMath xmlns:m="http://schemas.openxmlformats.org/officeDocument/2006/math">
                    <m:sSub>
                      <m:sSubPr>
                        <m:ctrlPr>
                          <a:rPr lang="ru-RU" i="1">
                            <a:latin typeface="Cambria Math" panose="02040503050406030204" pitchFamily="18" charset="0"/>
                            <a:ea typeface="Cambria Math" panose="02040503050406030204" pitchFamily="18" charset="0"/>
                          </a:rPr>
                        </m:ctrlPr>
                      </m:sSubPr>
                      <m:e>
                        <m:r>
                          <a:rPr lang="ru-RU"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𝑎</m:t>
                        </m:r>
                        <m:r>
                          <a:rPr lang="ru-RU" i="1" baseline="-25000">
                            <a:latin typeface="Cambria Math" panose="02040503050406030204" pitchFamily="18" charset="0"/>
                            <a:ea typeface="Cambria Math" panose="02040503050406030204" pitchFamily="18" charset="0"/>
                          </a:rPr>
                          <m:t>2</m:t>
                        </m:r>
                      </m:sub>
                    </m:sSub>
                  </m:oMath>
                </a14:m>
                <a:br>
                  <a:rPr lang="en-US" dirty="0"/>
                </a:br>
                <a:endParaRPr lang="ru-RU" dirty="0"/>
              </a:p>
            </p:txBody>
          </p:sp>
        </mc:Choice>
        <mc:Fallback xmlns="">
          <p:sp>
            <p:nvSpPr>
              <p:cNvPr id="2" name="Заголовок 1">
                <a:extLst>
                  <a:ext uri="{FF2B5EF4-FFF2-40B4-BE49-F238E27FC236}">
                    <a16:creationId xmlns:a16="http://schemas.microsoft.com/office/drawing/2014/main" id="{A97652B6-C397-9928-9ED2-117C077D004B}"/>
                  </a:ext>
                </a:extLst>
              </p:cNvPr>
              <p:cNvSpPr>
                <a:spLocks noGrp="1" noRot="1" noChangeAspect="1" noMove="1" noResize="1" noEditPoints="1" noAdjustHandles="1" noChangeArrowheads="1" noChangeShapeType="1" noTextEdit="1"/>
              </p:cNvSpPr>
              <p:nvPr>
                <p:ph type="title"/>
              </p:nvPr>
            </p:nvSpPr>
            <p:spPr>
              <a:xfrm>
                <a:off x="838200" y="365125"/>
                <a:ext cx="10515600" cy="6175634"/>
              </a:xfrm>
              <a:blipFill>
                <a:blip r:embed="rId2"/>
                <a:stretch>
                  <a:fillRect l="-2377" r="-406"/>
                </a:stretch>
              </a:blipFill>
            </p:spPr>
            <p:txBody>
              <a:bodyPr/>
              <a:lstStyle/>
              <a:p>
                <a:r>
                  <a:rPr lang="ru-RU">
                    <a:noFill/>
                  </a:rPr>
                  <a:t> </a:t>
                </a:r>
              </a:p>
            </p:txBody>
          </p:sp>
        </mc:Fallback>
      </mc:AlternateContent>
    </p:spTree>
    <p:extLst>
      <p:ext uri="{BB962C8B-B14F-4D97-AF65-F5344CB8AC3E}">
        <p14:creationId xmlns:p14="http://schemas.microsoft.com/office/powerpoint/2010/main" val="24348230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9B585C-5635-463A-A201-4D3D6C43FB88}"/>
              </a:ext>
            </a:extLst>
          </p:cNvPr>
          <p:cNvSpPr>
            <a:spLocks noGrp="1"/>
          </p:cNvSpPr>
          <p:nvPr>
            <p:ph type="title"/>
          </p:nvPr>
        </p:nvSpPr>
        <p:spPr>
          <a:xfrm>
            <a:off x="701747" y="266677"/>
            <a:ext cx="11081982" cy="6324646"/>
          </a:xfrm>
        </p:spPr>
        <p:txBody>
          <a:bodyPr anchor="t">
            <a:normAutofit fontScale="90000"/>
          </a:bodyPr>
          <a:lstStyle/>
          <a:p>
            <a:r>
              <a:rPr lang="ru-RU" sz="4000" b="1" dirty="0"/>
              <a:t>Пример нахождения погрешности приближенных вычислений.</a:t>
            </a:r>
            <a:br>
              <a:rPr lang="ru-RU" sz="4000" b="1" dirty="0"/>
            </a:br>
            <a:r>
              <a:rPr lang="ru-RU" sz="3600" dirty="0"/>
              <a:t>Обычно лишние значащие цифры не сохраняют. Берут число с наихудшей точностью, в остальных числах оставляют на знак больше.</a:t>
            </a:r>
            <a:br>
              <a:rPr lang="ru-RU" sz="3600" dirty="0"/>
            </a:br>
            <a:r>
              <a:rPr lang="ru-RU" sz="3600" dirty="0"/>
              <a:t>0,1735+4,2+175,221. Наихудшая точность у 4,2, значит можно записать 0,17+4,2+175,22 = 179,59</a:t>
            </a:r>
            <a:br>
              <a:rPr lang="ru-RU" sz="3600" dirty="0"/>
            </a:br>
            <a:r>
              <a:rPr lang="ru-RU" sz="3600" dirty="0"/>
              <a:t>Округляем до верной значащей цифры 179,6</a:t>
            </a:r>
            <a:br>
              <a:rPr lang="ru-RU" sz="3600" dirty="0"/>
            </a:br>
            <a:r>
              <a:rPr lang="ru-RU" sz="3600" dirty="0"/>
              <a:t>Найдем погрешность.</a:t>
            </a:r>
            <a:br>
              <a:rPr lang="ru-RU" sz="3600" dirty="0"/>
            </a:br>
            <a:r>
              <a:rPr lang="ru-RU" sz="3600" dirty="0"/>
              <a:t>Погрешность округления </a:t>
            </a:r>
            <a:r>
              <a:rPr lang="en-US" sz="3600" dirty="0"/>
              <a:t>|179,6-179,59|=0,01</a:t>
            </a:r>
            <a:br>
              <a:rPr lang="en-US" sz="3600" dirty="0"/>
            </a:br>
            <a:r>
              <a:rPr lang="ru-RU" sz="3600" dirty="0"/>
              <a:t>Погрешность вычислений 0,005+0,05+0,005=0,06</a:t>
            </a:r>
            <a:br>
              <a:rPr lang="ru-RU" sz="3600" dirty="0"/>
            </a:br>
            <a:r>
              <a:rPr lang="ru-RU" sz="3600" dirty="0"/>
              <a:t>Результирующая погрешность 0,01+0,06=0,07</a:t>
            </a:r>
            <a:br>
              <a:rPr lang="ru-RU" sz="3600" dirty="0"/>
            </a:br>
            <a:r>
              <a:rPr lang="ru-RU" sz="3600" dirty="0"/>
              <a:t>Т о результат 179,6±0,07, допустимо округлять погрешность вверх до верной значащей цифры 179,6</a:t>
            </a:r>
            <a:r>
              <a:rPr lang="ru-RU" sz="4000" dirty="0"/>
              <a:t>±0,1</a:t>
            </a:r>
            <a:br>
              <a:rPr lang="en-US" sz="4000" b="1" i="1" dirty="0"/>
            </a:br>
            <a:r>
              <a:rPr lang="ru-RU" dirty="0"/>
              <a:t>	</a:t>
            </a:r>
            <a:br>
              <a:rPr lang="ru-RU" dirty="0"/>
            </a:br>
            <a:br>
              <a:rPr lang="ru-RU" sz="3600" dirty="0"/>
            </a:br>
            <a:br>
              <a:rPr lang="ru-RU" dirty="0"/>
            </a:br>
            <a:endParaRPr lang="ru-RU" dirty="0"/>
          </a:p>
        </p:txBody>
      </p:sp>
    </p:spTree>
    <p:extLst>
      <p:ext uri="{BB962C8B-B14F-4D97-AF65-F5344CB8AC3E}">
        <p14:creationId xmlns:p14="http://schemas.microsoft.com/office/powerpoint/2010/main" val="4647942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Заголовок 1">
                <a:extLst>
                  <a:ext uri="{FF2B5EF4-FFF2-40B4-BE49-F238E27FC236}">
                    <a16:creationId xmlns:a16="http://schemas.microsoft.com/office/drawing/2014/main" id="{1C72043C-680E-54F6-C162-7DB8368F2903}"/>
                  </a:ext>
                </a:extLst>
              </p:cNvPr>
              <p:cNvSpPr>
                <a:spLocks noGrp="1"/>
              </p:cNvSpPr>
              <p:nvPr>
                <p:ph type="title"/>
              </p:nvPr>
            </p:nvSpPr>
            <p:spPr>
              <a:xfrm>
                <a:off x="838200" y="365125"/>
                <a:ext cx="10515600" cy="6119651"/>
              </a:xfrm>
            </p:spPr>
            <p:txBody>
              <a:bodyPr>
                <a:normAutofit/>
              </a:bodyPr>
              <a:lstStyle/>
              <a:p>
                <a:pPr algn="ctr"/>
                <a:r>
                  <a:rPr lang="ru-RU" b="1" dirty="0"/>
                  <a:t>Вычитание близких чисел. Потеря точности</a:t>
                </a:r>
                <a:r>
                  <a:rPr lang="ru-RU" dirty="0"/>
                  <a:t>.</a:t>
                </a:r>
                <a:br>
                  <a:rPr lang="ru-RU" dirty="0"/>
                </a:br>
                <a:br>
                  <a:rPr lang="ru-RU" dirty="0"/>
                </a:br>
                <a:r>
                  <a:rPr lang="ru-RU" dirty="0"/>
                  <a:t>Пусть </a:t>
                </a:r>
                <a:r>
                  <a:rPr lang="en-US" dirty="0"/>
                  <a:t>x&gt;0, y&gt;0, a=x-y</a:t>
                </a:r>
                <a:br>
                  <a:rPr lang="en-US" dirty="0"/>
                </a:br>
                <a:br>
                  <a:rPr lang="ru-RU" dirty="0"/>
                </a:br>
                <a:r>
                  <a:rPr lang="ru-RU" dirty="0"/>
                  <a:t>тогда </a:t>
                </a:r>
                <a14:m>
                  <m:oMath xmlns:m="http://schemas.openxmlformats.org/officeDocument/2006/math">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ea typeface="Cambria Math" panose="02040503050406030204" pitchFamily="18" charset="0"/>
                          </a:rPr>
                          <m:t>𝛿</m:t>
                        </m:r>
                      </m:e>
                      <m:sub>
                        <m:r>
                          <a:rPr lang="en-US" sz="4400" b="0" i="1" smtClean="0">
                            <a:latin typeface="Cambria Math" panose="02040503050406030204" pitchFamily="18" charset="0"/>
                          </a:rPr>
                          <m:t>𝑎</m:t>
                        </m:r>
                      </m:sub>
                    </m:sSub>
                  </m:oMath>
                </a14:m>
                <a:r>
                  <a:rPr lang="en-US" sz="4400" dirty="0"/>
                  <a:t>=</a:t>
                </a:r>
                <a14:m>
                  <m:oMath xmlns:m="http://schemas.openxmlformats.org/officeDocument/2006/math">
                    <m:f>
                      <m:fPr>
                        <m:ctrlPr>
                          <a:rPr lang="en-US" sz="4400" i="1" dirty="0" smtClean="0">
                            <a:latin typeface="Cambria Math" panose="02040503050406030204" pitchFamily="18" charset="0"/>
                          </a:rPr>
                        </m:ctrlPr>
                      </m:fPr>
                      <m:num>
                        <m:sSub>
                          <m:sSubPr>
                            <m:ctrlPr>
                              <a:rPr lang="en-US" sz="4400" i="1" dirty="0" smtClean="0">
                                <a:latin typeface="Cambria Math" panose="02040503050406030204" pitchFamily="18" charset="0"/>
                              </a:rPr>
                            </m:ctrlPr>
                          </m:sSubPr>
                          <m:e>
                            <m:r>
                              <a:rPr lang="en-US" sz="4400" i="1" dirty="0" smtClean="0">
                                <a:latin typeface="Cambria Math" panose="02040503050406030204" pitchFamily="18" charset="0"/>
                                <a:ea typeface="Cambria Math" panose="02040503050406030204" pitchFamily="18" charset="0"/>
                              </a:rPr>
                              <m:t>∆</m:t>
                            </m:r>
                          </m:e>
                          <m:sub>
                            <m:r>
                              <a:rPr lang="en-US" sz="4400" b="0" i="1" dirty="0" smtClean="0">
                                <a:latin typeface="Cambria Math" panose="02040503050406030204" pitchFamily="18" charset="0"/>
                              </a:rPr>
                              <m:t>𝑎</m:t>
                            </m:r>
                          </m:sub>
                        </m:sSub>
                      </m:num>
                      <m:den>
                        <m:d>
                          <m:dPr>
                            <m:begChr m:val="|"/>
                            <m:endChr m:val="|"/>
                            <m:ctrlPr>
                              <a:rPr lang="en-US" sz="4400" i="1" dirty="0" smtClean="0">
                                <a:latin typeface="Cambria Math" panose="02040503050406030204" pitchFamily="18" charset="0"/>
                              </a:rPr>
                            </m:ctrlPr>
                          </m:dPr>
                          <m:e>
                            <m:r>
                              <a:rPr lang="en-US" sz="4400" b="0" i="1" dirty="0" smtClean="0">
                                <a:latin typeface="Cambria Math" panose="02040503050406030204" pitchFamily="18" charset="0"/>
                              </a:rPr>
                              <m:t>𝑎</m:t>
                            </m:r>
                          </m:e>
                        </m:d>
                      </m:den>
                    </m:f>
                  </m:oMath>
                </a14:m>
                <a:r>
                  <a:rPr lang="ru-RU" dirty="0"/>
                  <a:t>=</a:t>
                </a:r>
                <a:r>
                  <a:rPr lang="en-US" dirty="0"/>
                  <a:t> </a:t>
                </a:r>
                <a14:m>
                  <m:oMath xmlns:m="http://schemas.openxmlformats.org/officeDocument/2006/math">
                    <m:f>
                      <m:fPr>
                        <m:ctrlPr>
                          <a:rPr lang="en-US" i="1" dirty="0">
                            <a:latin typeface="Cambria Math" panose="02040503050406030204" pitchFamily="18" charset="0"/>
                          </a:rPr>
                        </m:ctrlPr>
                      </m:fPr>
                      <m:num>
                        <m:sSub>
                          <m:sSubPr>
                            <m:ctrlPr>
                              <a:rPr lang="en-US" i="1" dirty="0">
                                <a:latin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m:t>
                            </m:r>
                          </m:e>
                          <m:sub>
                            <m:r>
                              <a:rPr lang="en-US" i="1" dirty="0">
                                <a:latin typeface="Cambria Math" panose="02040503050406030204" pitchFamily="18" charset="0"/>
                                <a:ea typeface="Cambria Math" panose="02040503050406030204" pitchFamily="18" charset="0"/>
                              </a:rPr>
                              <m:t>𝑥</m:t>
                            </m:r>
                          </m:sub>
                        </m:sSub>
                        <m:r>
                          <a:rPr lang="en-US" b="0" i="1" dirty="0" smtClean="0">
                            <a:latin typeface="Cambria Math" panose="02040503050406030204" pitchFamily="18" charset="0"/>
                            <a:ea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m:t>
                            </m:r>
                          </m:e>
                          <m:sub>
                            <m:r>
                              <a:rPr lang="en-US" b="0" i="1" dirty="0" smtClean="0">
                                <a:latin typeface="Cambria Math" panose="02040503050406030204" pitchFamily="18" charset="0"/>
                                <a:ea typeface="Cambria Math" panose="02040503050406030204" pitchFamily="18" charset="0"/>
                              </a:rPr>
                              <m:t>𝑦</m:t>
                            </m:r>
                          </m:sub>
                        </m:sSub>
                      </m:num>
                      <m:den>
                        <m:d>
                          <m:dPr>
                            <m:begChr m:val="|"/>
                            <m:endChr m:val="|"/>
                            <m:ctrlPr>
                              <a:rPr lang="en-US" i="1" dirty="0">
                                <a:latin typeface="Cambria Math" panose="02040503050406030204" pitchFamily="18" charset="0"/>
                              </a:rPr>
                            </m:ctrlPr>
                          </m:dPr>
                          <m:e>
                            <m:r>
                              <a:rPr lang="en-US" b="0" i="1" dirty="0" smtClean="0">
                                <a:latin typeface="Cambria Math" panose="02040503050406030204" pitchFamily="18" charset="0"/>
                              </a:rPr>
                              <m:t>𝑥</m:t>
                            </m:r>
                            <m:r>
                              <a:rPr lang="en-US" b="0" i="1" dirty="0" smtClean="0">
                                <a:latin typeface="Cambria Math" panose="02040503050406030204" pitchFamily="18" charset="0"/>
                              </a:rPr>
                              <m:t>−</m:t>
                            </m:r>
                            <m:r>
                              <a:rPr lang="en-US" b="0" i="1" dirty="0" smtClean="0">
                                <a:latin typeface="Cambria Math" panose="02040503050406030204" pitchFamily="18" charset="0"/>
                              </a:rPr>
                              <m:t>𝑦</m:t>
                            </m:r>
                          </m:e>
                        </m:d>
                      </m:den>
                    </m:f>
                  </m:oMath>
                </a14:m>
                <a:br>
                  <a:rPr lang="en-US" dirty="0"/>
                </a:br>
                <a:br>
                  <a:rPr lang="ru-RU" dirty="0"/>
                </a:br>
                <a:r>
                  <a:rPr lang="ru-RU" dirty="0"/>
                  <a:t>Для близких чисел </a:t>
                </a:r>
                <a:r>
                  <a:rPr lang="en-US" dirty="0"/>
                  <a:t>x </a:t>
                </a:r>
                <a:r>
                  <a:rPr lang="ru-RU" dirty="0"/>
                  <a:t>и </a:t>
                </a:r>
                <a:r>
                  <a:rPr lang="en-US" dirty="0"/>
                  <a:t>y</a:t>
                </a:r>
                <a:r>
                  <a:rPr lang="ru-RU" dirty="0"/>
                  <a:t> относительная погрешность может быть очень большой.</a:t>
                </a:r>
                <a:r>
                  <a:rPr lang="en-US" dirty="0"/>
                  <a:t> </a:t>
                </a:r>
                <a:endParaRPr lang="ru-RU" dirty="0"/>
              </a:p>
            </p:txBody>
          </p:sp>
        </mc:Choice>
        <mc:Fallback xmlns="">
          <p:sp>
            <p:nvSpPr>
              <p:cNvPr id="2" name="Заголовок 1">
                <a:extLst>
                  <a:ext uri="{FF2B5EF4-FFF2-40B4-BE49-F238E27FC236}">
                    <a16:creationId xmlns:a16="http://schemas.microsoft.com/office/drawing/2014/main" id="{1C72043C-680E-54F6-C162-7DB8368F2903}"/>
                  </a:ext>
                </a:extLst>
              </p:cNvPr>
              <p:cNvSpPr>
                <a:spLocks noGrp="1" noRot="1" noChangeAspect="1" noMove="1" noResize="1" noEditPoints="1" noAdjustHandles="1" noChangeArrowheads="1" noChangeShapeType="1" noTextEdit="1"/>
              </p:cNvSpPr>
              <p:nvPr>
                <p:ph type="title"/>
              </p:nvPr>
            </p:nvSpPr>
            <p:spPr>
              <a:xfrm>
                <a:off x="838200" y="365125"/>
                <a:ext cx="10515600" cy="6119651"/>
              </a:xfrm>
              <a:blipFill>
                <a:blip r:embed="rId2"/>
                <a:stretch>
                  <a:fillRect l="-1681" r="-1623"/>
                </a:stretch>
              </a:blipFill>
            </p:spPr>
            <p:txBody>
              <a:bodyPr/>
              <a:lstStyle/>
              <a:p>
                <a:r>
                  <a:rPr lang="ru-RU">
                    <a:noFill/>
                  </a:rPr>
                  <a:t> </a:t>
                </a:r>
              </a:p>
            </p:txBody>
          </p:sp>
        </mc:Fallback>
      </mc:AlternateContent>
    </p:spTree>
    <p:extLst>
      <p:ext uri="{BB962C8B-B14F-4D97-AF65-F5344CB8AC3E}">
        <p14:creationId xmlns:p14="http://schemas.microsoft.com/office/powerpoint/2010/main" val="2780728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Заголовок 1">
                <a:extLst>
                  <a:ext uri="{FF2B5EF4-FFF2-40B4-BE49-F238E27FC236}">
                    <a16:creationId xmlns:a16="http://schemas.microsoft.com/office/drawing/2014/main" id="{BFC477DA-4AC3-0A68-3F21-A5C86544E2BA}"/>
                  </a:ext>
                </a:extLst>
              </p:cNvPr>
              <p:cNvSpPr>
                <a:spLocks noGrp="1"/>
              </p:cNvSpPr>
              <p:nvPr>
                <p:ph type="title"/>
              </p:nvPr>
            </p:nvSpPr>
            <p:spPr>
              <a:xfrm>
                <a:off x="553616" y="961053"/>
                <a:ext cx="11084768" cy="5607698"/>
              </a:xfrm>
            </p:spPr>
            <p:txBody>
              <a:bodyPr>
                <a:normAutofit fontScale="90000"/>
              </a:bodyPr>
              <a:lstStyle/>
              <a:p>
                <a:pPr/>
                <a:r>
                  <a:rPr lang="ru-RU" sz="4900" dirty="0"/>
                  <a:t>Погрешность зависит от метода вычислений.</a:t>
                </a:r>
                <a:br>
                  <a:rPr lang="ru-RU" sz="4900" dirty="0"/>
                </a:br>
                <a:r>
                  <a:rPr lang="ru-RU" dirty="0"/>
                  <a:t>Пример. Найти  разность</a:t>
                </a:r>
                <a:r>
                  <a:rPr lang="en-US" dirty="0"/>
                  <a:t>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6,27</m:t>
                        </m:r>
                      </m:e>
                    </m:rad>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6,26</m:t>
                        </m:r>
                      </m:e>
                    </m:rad>
                  </m:oMath>
                </a14:m>
                <a:br>
                  <a:rPr lang="en-US" dirty="0"/>
                </a:br>
                <a:r>
                  <a:rPr lang="ru-RU" dirty="0"/>
                  <a:t>Найдем значения до 3 знаков после запятой</a:t>
                </a:r>
                <a:br>
                  <a:rPr lang="ru-RU" dirty="0"/>
                </a:br>
                <a14:m>
                  <m:oMathPara xmlns:m="http://schemas.openxmlformats.org/officeDocument/2006/math">
                    <m:oMathParaPr>
                      <m:jc m:val="centerGroup"/>
                    </m:oMathParaPr>
                    <m:oMath xmlns:m="http://schemas.openxmlformats.org/officeDocument/2006/math">
                      <m:rad>
                        <m:radPr>
                          <m:degHide m:val="on"/>
                          <m:ctrlPr>
                            <a:rPr lang="ru-RU" i="1" dirty="0">
                              <a:latin typeface="Cambria Math" panose="02040503050406030204" pitchFamily="18" charset="0"/>
                            </a:rPr>
                          </m:ctrlPr>
                        </m:radPr>
                        <m:deg/>
                        <m:e>
                          <m:r>
                            <a:rPr lang="ru-RU" i="1" dirty="0">
                              <a:latin typeface="Cambria Math" panose="02040503050406030204" pitchFamily="18" charset="0"/>
                            </a:rPr>
                            <m:t>6,27</m:t>
                          </m:r>
                        </m:e>
                      </m:rad>
                      <m:r>
                        <a:rPr lang="ru-RU" i="1" dirty="0">
                          <a:latin typeface="Cambria Math" panose="02040503050406030204" pitchFamily="18" charset="0"/>
                        </a:rPr>
                        <m:t>=2,504</m:t>
                      </m:r>
                      <m:r>
                        <a:rPr lang="en-US" i="1" dirty="0">
                          <a:latin typeface="Cambria Math" panose="02040503050406030204" pitchFamily="18" charset="0"/>
                        </a:rPr>
                        <m:t>              </m:t>
                      </m:r>
                      <m:r>
                        <a:rPr lang="ru-RU" i="1" dirty="0">
                          <a:latin typeface="Cambria Math" panose="02040503050406030204" pitchFamily="18" charset="0"/>
                        </a:rPr>
                        <m:t> </m:t>
                      </m:r>
                      <m:sSub>
                        <m:sSubPr>
                          <m:ctrlPr>
                            <a:rPr lang="ru-RU" i="1" dirty="0">
                              <a:latin typeface="Cambria Math" panose="02040503050406030204" pitchFamily="18" charset="0"/>
                              <a:ea typeface="Cambria Math" panose="02040503050406030204" pitchFamily="18" charset="0"/>
                            </a:rPr>
                          </m:ctrlPr>
                        </m:sSubPr>
                        <m:e>
                          <m:r>
                            <a:rPr lang="en-US" b="0" i="1" dirty="0" smtClean="0">
                              <a:latin typeface="Cambria Math" panose="02040503050406030204" pitchFamily="18" charset="0"/>
                              <a:ea typeface="Cambria Math" panose="02040503050406030204" pitchFamily="18" charset="0"/>
                            </a:rPr>
                            <m:t>              </m:t>
                          </m:r>
                          <m:r>
                            <a:rPr lang="ru-RU" i="1" dirty="0">
                              <a:latin typeface="Cambria Math" panose="02040503050406030204" pitchFamily="18" charset="0"/>
                              <a:ea typeface="Cambria Math" panose="02040503050406030204" pitchFamily="18" charset="0"/>
                            </a:rPr>
                            <m:t>∆</m:t>
                          </m:r>
                        </m:e>
                        <m:sub>
                          <m:sSub>
                            <m:sSubPr>
                              <m:ctrlPr>
                                <a:rPr lang="ru-RU"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𝑎</m:t>
                              </m:r>
                            </m:e>
                            <m:sub>
                              <m:r>
                                <a:rPr lang="en-US" i="1" dirty="0">
                                  <a:latin typeface="Cambria Math" panose="02040503050406030204" pitchFamily="18" charset="0"/>
                                  <a:ea typeface="Cambria Math" panose="02040503050406030204" pitchFamily="18" charset="0"/>
                                </a:rPr>
                                <m:t>1</m:t>
                              </m:r>
                            </m:sub>
                          </m:sSub>
                        </m:sub>
                      </m:sSub>
                      <m:r>
                        <a:rPr lang="en-US" i="1" dirty="0">
                          <a:latin typeface="Cambria Math" panose="02040503050406030204" pitchFamily="18" charset="0"/>
                          <a:ea typeface="Cambria Math" panose="02040503050406030204" pitchFamily="18" charset="0"/>
                        </a:rPr>
                        <m:t>=0,0005</m:t>
                      </m:r>
                    </m:oMath>
                    <m:oMath xmlns:m="http://schemas.openxmlformats.org/officeDocument/2006/math">
                      <m:rad>
                        <m:radPr>
                          <m:degHide m:val="on"/>
                          <m:ctrlPr>
                            <a:rPr lang="ru-RU" i="1" dirty="0">
                              <a:latin typeface="Cambria Math" panose="02040503050406030204" pitchFamily="18" charset="0"/>
                            </a:rPr>
                          </m:ctrlPr>
                        </m:radPr>
                        <m:deg/>
                        <m:e>
                          <m:r>
                            <a:rPr lang="ru-RU" i="1" dirty="0">
                              <a:latin typeface="Cambria Math" panose="02040503050406030204" pitchFamily="18" charset="0"/>
                            </a:rPr>
                            <m:t>6,2</m:t>
                          </m:r>
                          <m:r>
                            <a:rPr lang="en-US" b="0" i="1" dirty="0" smtClean="0">
                              <a:latin typeface="Cambria Math" panose="02040503050406030204" pitchFamily="18" charset="0"/>
                            </a:rPr>
                            <m:t>6</m:t>
                          </m:r>
                        </m:e>
                      </m:rad>
                      <m:r>
                        <a:rPr lang="ru-RU" i="1" dirty="0">
                          <a:latin typeface="Cambria Math" panose="02040503050406030204" pitchFamily="18" charset="0"/>
                        </a:rPr>
                        <m:t>=2,50</m:t>
                      </m:r>
                      <m:r>
                        <a:rPr lang="en-US" b="0" i="1" dirty="0" smtClean="0">
                          <a:latin typeface="Cambria Math" panose="02040503050406030204" pitchFamily="18" charset="0"/>
                        </a:rPr>
                        <m:t>2</m:t>
                      </m:r>
                      <m:r>
                        <a:rPr lang="en-US" i="1" dirty="0">
                          <a:latin typeface="Cambria Math" panose="02040503050406030204" pitchFamily="18" charset="0"/>
                        </a:rPr>
                        <m:t>              </m:t>
                      </m:r>
                      <m:r>
                        <a:rPr lang="ru-RU" i="1" dirty="0">
                          <a:latin typeface="Cambria Math" panose="02040503050406030204" pitchFamily="18" charset="0"/>
                        </a:rPr>
                        <m:t> </m:t>
                      </m:r>
                      <m:r>
                        <a:rPr lang="en-US" b="0" i="1" dirty="0" smtClean="0">
                          <a:latin typeface="Cambria Math" panose="02040503050406030204" pitchFamily="18" charset="0"/>
                        </a:rPr>
                        <m:t>              </m:t>
                      </m:r>
                      <m:sSub>
                        <m:sSubPr>
                          <m:ctrlPr>
                            <a:rPr lang="ru-RU" i="1" dirty="0">
                              <a:latin typeface="Cambria Math" panose="02040503050406030204" pitchFamily="18" charset="0"/>
                              <a:ea typeface="Cambria Math" panose="02040503050406030204" pitchFamily="18" charset="0"/>
                            </a:rPr>
                          </m:ctrlPr>
                        </m:sSubPr>
                        <m:e>
                          <m:r>
                            <a:rPr lang="ru-RU" i="1" dirty="0">
                              <a:latin typeface="Cambria Math" panose="02040503050406030204" pitchFamily="18" charset="0"/>
                              <a:ea typeface="Cambria Math" panose="02040503050406030204" pitchFamily="18" charset="0"/>
                            </a:rPr>
                            <m:t>∆</m:t>
                          </m:r>
                        </m:e>
                        <m:sub>
                          <m:sSub>
                            <m:sSubPr>
                              <m:ctrlPr>
                                <a:rPr lang="ru-RU"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𝑎</m:t>
                              </m:r>
                            </m:e>
                            <m:sub>
                              <m:r>
                                <a:rPr lang="en-US" b="0" i="1" dirty="0" smtClean="0">
                                  <a:latin typeface="Cambria Math" panose="02040503050406030204" pitchFamily="18" charset="0"/>
                                  <a:ea typeface="Cambria Math" panose="02040503050406030204" pitchFamily="18" charset="0"/>
                                </a:rPr>
                                <m:t>2</m:t>
                              </m:r>
                            </m:sub>
                          </m:sSub>
                        </m:sub>
                      </m:sSub>
                      <m:r>
                        <a:rPr lang="en-US" i="1" dirty="0">
                          <a:latin typeface="Cambria Math" panose="02040503050406030204" pitchFamily="18" charset="0"/>
                          <a:ea typeface="Cambria Math" panose="02040503050406030204" pitchFamily="18" charset="0"/>
                        </a:rPr>
                        <m:t>=0,0005</m:t>
                      </m:r>
                    </m:oMath>
                  </m:oMathPara>
                </a14:m>
                <a:br>
                  <a:rPr lang="en-US" dirty="0"/>
                </a:b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=2,504−2,502=0,2 </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−2</m:t>
                        </m:r>
                      </m:sup>
                    </m:sSup>
                  </m:oMath>
                </a14:m>
                <a:r>
                  <a:rPr lang="en-US" dirty="0"/>
                  <a:t>       </a:t>
                </a:r>
                <a14:m>
                  <m:oMath xmlns:m="http://schemas.openxmlformats.org/officeDocument/2006/math">
                    <m:sSub>
                      <m:sSubPr>
                        <m:ctrlPr>
                          <a:rPr lang="ru-RU" i="1" dirty="0">
                            <a:latin typeface="Cambria Math" panose="02040503050406030204" pitchFamily="18" charset="0"/>
                            <a:ea typeface="Cambria Math" panose="02040503050406030204" pitchFamily="18" charset="0"/>
                          </a:rPr>
                        </m:ctrlPr>
                      </m:sSubPr>
                      <m:e>
                        <m:r>
                          <a:rPr lang="ru-RU" i="1" dirty="0">
                            <a:latin typeface="Cambria Math" panose="02040503050406030204" pitchFamily="18" charset="0"/>
                            <a:ea typeface="Cambria Math" panose="02040503050406030204" pitchFamily="18" charset="0"/>
                          </a:rPr>
                          <m:t>∆</m:t>
                        </m:r>
                      </m:e>
                      <m:sub>
                        <m:r>
                          <a:rPr lang="en-US" b="0" i="1" dirty="0" smtClean="0">
                            <a:latin typeface="Cambria Math" panose="02040503050406030204" pitchFamily="18" charset="0"/>
                            <a:ea typeface="Cambria Math" panose="02040503050406030204" pitchFamily="18" charset="0"/>
                          </a:rPr>
                          <m:t>𝑎</m:t>
                        </m:r>
                      </m:sub>
                    </m:sSub>
                    <m:r>
                      <a:rPr lang="en-US" i="1" dirty="0">
                        <a:latin typeface="Cambria Math" panose="02040503050406030204" pitchFamily="18" charset="0"/>
                        <a:ea typeface="Cambria Math" panose="02040503050406030204" pitchFamily="18" charset="0"/>
                      </a:rPr>
                      <m:t>=0,00</m:t>
                    </m:r>
                    <m:r>
                      <a:rPr lang="en-US" b="0" i="1" dirty="0" smtClean="0">
                        <a:latin typeface="Cambria Math" panose="02040503050406030204" pitchFamily="18" charset="0"/>
                        <a:ea typeface="Cambria Math" panose="02040503050406030204" pitchFamily="18" charset="0"/>
                      </a:rPr>
                      <m:t>1</m:t>
                    </m:r>
                  </m:oMath>
                </a14:m>
                <a:br>
                  <a:rPr lang="en-US" dirty="0"/>
                </a:br>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rPr>
                          <m:t>𝑎</m:t>
                        </m:r>
                      </m:sub>
                    </m:sSub>
                  </m:oMath>
                </a14:m>
                <a:r>
                  <a:rPr lang="en-US" dirty="0"/>
                  <a:t>=</a:t>
                </a:r>
                <a14:m>
                  <m:oMath xmlns:m="http://schemas.openxmlformats.org/officeDocument/2006/math">
                    <m:f>
                      <m:fPr>
                        <m:ctrlPr>
                          <a:rPr lang="en-US" i="1" dirty="0">
                            <a:latin typeface="Cambria Math" panose="02040503050406030204" pitchFamily="18" charset="0"/>
                          </a:rPr>
                        </m:ctrlPr>
                      </m:fPr>
                      <m:num>
                        <m:sSub>
                          <m:sSubPr>
                            <m:ctrlPr>
                              <a:rPr lang="en-US" i="1" dirty="0">
                                <a:latin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m:t>
                            </m:r>
                          </m:e>
                          <m:sub>
                            <m:r>
                              <a:rPr lang="en-US" i="1" dirty="0">
                                <a:latin typeface="Cambria Math" panose="02040503050406030204" pitchFamily="18" charset="0"/>
                              </a:rPr>
                              <m:t>𝑎</m:t>
                            </m:r>
                          </m:sub>
                        </m:sSub>
                      </m:num>
                      <m:den>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𝑎</m:t>
                            </m:r>
                          </m:e>
                        </m:d>
                      </m:den>
                    </m:f>
                  </m:oMath>
                </a14:m>
                <a:r>
                  <a:rPr lang="ru-RU" dirty="0"/>
                  <a:t>=</a:t>
                </a:r>
                <a:r>
                  <a:rPr lang="en-US" dirty="0"/>
                  <a:t> </a:t>
                </a:r>
                <a14:m>
                  <m:oMath xmlns:m="http://schemas.openxmlformats.org/officeDocument/2006/math">
                    <m:f>
                      <m:fPr>
                        <m:ctrlPr>
                          <a:rPr lang="en-US" i="1" dirty="0">
                            <a:latin typeface="Cambria Math" panose="02040503050406030204" pitchFamily="18" charset="0"/>
                          </a:rPr>
                        </m:ctrlPr>
                      </m:fPr>
                      <m:num>
                        <m:r>
                          <a:rPr lang="en-US" b="0" i="1" dirty="0" smtClean="0">
                            <a:latin typeface="Cambria Math" panose="02040503050406030204" pitchFamily="18" charset="0"/>
                          </a:rPr>
                          <m:t>0,001</m:t>
                        </m:r>
                      </m:num>
                      <m:den>
                        <m:r>
                          <a:rPr lang="en-US" b="0" i="1" dirty="0" smtClean="0">
                            <a:latin typeface="Cambria Math" panose="02040503050406030204" pitchFamily="18" charset="0"/>
                          </a:rPr>
                          <m:t>0,002</m:t>
                        </m:r>
                      </m:den>
                    </m:f>
                  </m:oMath>
                </a14:m>
                <a:r>
                  <a:rPr lang="en-US" dirty="0"/>
                  <a:t>=0,5=50% !!!</a:t>
                </a:r>
                <a:br>
                  <a:rPr lang="ru-RU" dirty="0"/>
                </a:br>
                <a:endParaRPr lang="ru-RU" dirty="0"/>
              </a:p>
            </p:txBody>
          </p:sp>
        </mc:Choice>
        <mc:Fallback xmlns="">
          <p:sp>
            <p:nvSpPr>
              <p:cNvPr id="2" name="Заголовок 1">
                <a:extLst>
                  <a:ext uri="{FF2B5EF4-FFF2-40B4-BE49-F238E27FC236}">
                    <a16:creationId xmlns:a16="http://schemas.microsoft.com/office/drawing/2014/main" id="{BFC477DA-4AC3-0A68-3F21-A5C86544E2BA}"/>
                  </a:ext>
                </a:extLst>
              </p:cNvPr>
              <p:cNvSpPr>
                <a:spLocks noGrp="1" noRot="1" noChangeAspect="1" noMove="1" noResize="1" noEditPoints="1" noAdjustHandles="1" noChangeArrowheads="1" noChangeShapeType="1" noTextEdit="1"/>
              </p:cNvSpPr>
              <p:nvPr>
                <p:ph type="title"/>
              </p:nvPr>
            </p:nvSpPr>
            <p:spPr>
              <a:xfrm>
                <a:off x="553616" y="961053"/>
                <a:ext cx="11084768" cy="5607698"/>
              </a:xfrm>
              <a:blipFill>
                <a:blip r:embed="rId2"/>
                <a:stretch>
                  <a:fillRect l="-2255"/>
                </a:stretch>
              </a:blipFill>
            </p:spPr>
            <p:txBody>
              <a:bodyPr/>
              <a:lstStyle/>
              <a:p>
                <a:r>
                  <a:rPr lang="ru-RU">
                    <a:noFill/>
                  </a:rPr>
                  <a:t> </a:t>
                </a:r>
              </a:p>
            </p:txBody>
          </p:sp>
        </mc:Fallback>
      </mc:AlternateContent>
    </p:spTree>
    <p:extLst>
      <p:ext uri="{BB962C8B-B14F-4D97-AF65-F5344CB8AC3E}">
        <p14:creationId xmlns:p14="http://schemas.microsoft.com/office/powerpoint/2010/main" val="11583250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Заголовок 1">
                <a:extLst>
                  <a:ext uri="{FF2B5EF4-FFF2-40B4-BE49-F238E27FC236}">
                    <a16:creationId xmlns:a16="http://schemas.microsoft.com/office/drawing/2014/main" id="{2B360A3F-7C34-D874-2E5C-F7DC05438557}"/>
                  </a:ext>
                </a:extLst>
              </p:cNvPr>
              <p:cNvSpPr>
                <a:spLocks noGrp="1"/>
              </p:cNvSpPr>
              <p:nvPr>
                <p:ph type="title"/>
              </p:nvPr>
            </p:nvSpPr>
            <p:spPr>
              <a:xfrm>
                <a:off x="233265" y="365125"/>
                <a:ext cx="12045821" cy="5839732"/>
              </a:xfrm>
            </p:spPr>
            <p:txBody>
              <a:bodyPr>
                <a:normAutofit/>
              </a:bodyPr>
              <a:lstStyle/>
              <a:p>
                <a:r>
                  <a:rPr lang="ru-RU" dirty="0"/>
                  <a:t>Применим другую вычислительную схему</a:t>
                </a:r>
                <a:br>
                  <a:rPr lang="ru-RU" dirty="0"/>
                </a:b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6,27</m:t>
                        </m:r>
                      </m:e>
                    </m:rad>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6,26</m:t>
                        </m:r>
                      </m:e>
                    </m:rad>
                  </m:oMath>
                </a14:m>
                <a:r>
                  <a:rPr lang="ru-RU" dirty="0"/>
                  <a:t>=</a:t>
                </a:r>
                <a14:m>
                  <m:oMath xmlns:m="http://schemas.openxmlformats.org/officeDocument/2006/math">
                    <m:f>
                      <m:fPr>
                        <m:ctrlPr>
                          <a:rPr lang="ru-RU" i="1" dirty="0" smtClean="0">
                            <a:latin typeface="Cambria Math" panose="02040503050406030204" pitchFamily="18" charset="0"/>
                          </a:rPr>
                        </m:ctrlPr>
                      </m:fPr>
                      <m:num>
                        <m:r>
                          <a:rPr lang="ru-RU" b="0" i="1" dirty="0" smtClean="0">
                            <a:latin typeface="Cambria Math" panose="02040503050406030204" pitchFamily="18" charset="0"/>
                          </a:rPr>
                          <m:t>(</m:t>
                        </m:r>
                        <m:rad>
                          <m:radPr>
                            <m:degHide m:val="on"/>
                            <m:ctrlPr>
                              <a:rPr lang="en-US" i="1">
                                <a:latin typeface="Cambria Math" panose="02040503050406030204" pitchFamily="18" charset="0"/>
                              </a:rPr>
                            </m:ctrlPr>
                          </m:radPr>
                          <m:deg/>
                          <m:e>
                            <m:r>
                              <a:rPr lang="en-US" i="1">
                                <a:latin typeface="Cambria Math" panose="02040503050406030204" pitchFamily="18" charset="0"/>
                              </a:rPr>
                              <m:t>6,27</m:t>
                            </m:r>
                          </m:e>
                        </m:rad>
                        <m:r>
                          <a:rPr lang="en-US" i="1">
                            <a:latin typeface="Cambria Math" panose="02040503050406030204" pitchFamily="18" charset="0"/>
                          </a:rPr>
                          <m:t>−</m:t>
                        </m:r>
                        <m:rad>
                          <m:radPr>
                            <m:degHide m:val="on"/>
                            <m:ctrlPr>
                              <a:rPr lang="en-US" i="1">
                                <a:latin typeface="Cambria Math" panose="02040503050406030204" pitchFamily="18" charset="0"/>
                              </a:rPr>
                            </m:ctrlPr>
                          </m:radPr>
                          <m:deg/>
                          <m:e>
                            <m:r>
                              <a:rPr lang="en-US" i="1">
                                <a:latin typeface="Cambria Math" panose="02040503050406030204" pitchFamily="18" charset="0"/>
                              </a:rPr>
                              <m:t>6,26</m:t>
                            </m:r>
                          </m:e>
                        </m:rad>
                        <m:r>
                          <a:rPr lang="ru-RU" b="0" i="1" smtClean="0">
                            <a:latin typeface="Cambria Math" panose="02040503050406030204" pitchFamily="18" charset="0"/>
                          </a:rPr>
                          <m:t>)(</m:t>
                        </m:r>
                        <m:rad>
                          <m:radPr>
                            <m:degHide m:val="on"/>
                            <m:ctrlPr>
                              <a:rPr lang="en-US" i="1">
                                <a:latin typeface="Cambria Math" panose="02040503050406030204" pitchFamily="18" charset="0"/>
                              </a:rPr>
                            </m:ctrlPr>
                          </m:radPr>
                          <m:deg/>
                          <m:e>
                            <m:r>
                              <a:rPr lang="en-US" i="1">
                                <a:latin typeface="Cambria Math" panose="02040503050406030204" pitchFamily="18" charset="0"/>
                              </a:rPr>
                              <m:t>6,27</m:t>
                            </m:r>
                          </m:e>
                        </m:rad>
                        <m:r>
                          <a:rPr lang="ru-RU" b="0" i="1" smtClean="0">
                            <a:latin typeface="Cambria Math" panose="02040503050406030204" pitchFamily="18" charset="0"/>
                          </a:rPr>
                          <m:t>+</m:t>
                        </m:r>
                        <m:rad>
                          <m:radPr>
                            <m:degHide m:val="on"/>
                            <m:ctrlPr>
                              <a:rPr lang="en-US" i="1">
                                <a:latin typeface="Cambria Math" panose="02040503050406030204" pitchFamily="18" charset="0"/>
                              </a:rPr>
                            </m:ctrlPr>
                          </m:radPr>
                          <m:deg/>
                          <m:e>
                            <m:r>
                              <a:rPr lang="en-US" i="1">
                                <a:latin typeface="Cambria Math" panose="02040503050406030204" pitchFamily="18" charset="0"/>
                              </a:rPr>
                              <m:t>6,26</m:t>
                            </m:r>
                          </m:e>
                        </m:rad>
                        <m:r>
                          <a:rPr lang="ru-RU" b="0" i="1" smtClean="0">
                            <a:latin typeface="Cambria Math" panose="02040503050406030204" pitchFamily="18" charset="0"/>
                          </a:rPr>
                          <m:t>)</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6,27</m:t>
                            </m:r>
                          </m:e>
                        </m:rad>
                        <m:r>
                          <a:rPr lang="ru-RU" i="1">
                            <a:latin typeface="Cambria Math" panose="02040503050406030204" pitchFamily="18" charset="0"/>
                          </a:rPr>
                          <m:t>+</m:t>
                        </m:r>
                        <m:rad>
                          <m:radPr>
                            <m:degHide m:val="on"/>
                            <m:ctrlPr>
                              <a:rPr lang="en-US" i="1">
                                <a:latin typeface="Cambria Math" panose="02040503050406030204" pitchFamily="18" charset="0"/>
                              </a:rPr>
                            </m:ctrlPr>
                          </m:radPr>
                          <m:deg/>
                          <m:e>
                            <m:r>
                              <a:rPr lang="en-US" i="1">
                                <a:latin typeface="Cambria Math" panose="02040503050406030204" pitchFamily="18" charset="0"/>
                              </a:rPr>
                              <m:t>6,26</m:t>
                            </m:r>
                          </m:e>
                        </m:rad>
                      </m:den>
                    </m:f>
                    <m:r>
                      <a:rPr lang="ru-RU" b="0" i="1" dirty="0" smtClean="0">
                        <a:latin typeface="Cambria Math" panose="02040503050406030204" pitchFamily="18" charset="0"/>
                      </a:rPr>
                      <m:t>=</m:t>
                    </m:r>
                    <m:f>
                      <m:fPr>
                        <m:ctrlPr>
                          <a:rPr lang="ru-RU" b="0" i="1" dirty="0" smtClean="0">
                            <a:latin typeface="Cambria Math" panose="02040503050406030204" pitchFamily="18" charset="0"/>
                          </a:rPr>
                        </m:ctrlPr>
                      </m:fPr>
                      <m:num>
                        <m:r>
                          <a:rPr lang="ru-RU" b="0" i="1" dirty="0" smtClean="0">
                            <a:latin typeface="Cambria Math" panose="02040503050406030204" pitchFamily="18" charset="0"/>
                          </a:rPr>
                          <m:t>6</m:t>
                        </m:r>
                        <m:r>
                          <a:rPr lang="en-US" b="0" i="1" dirty="0" smtClean="0">
                            <a:latin typeface="Cambria Math" panose="02040503050406030204" pitchFamily="18" charset="0"/>
                          </a:rPr>
                          <m:t>,27−6,26</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6,27</m:t>
                            </m:r>
                          </m:e>
                        </m:rad>
                        <m:r>
                          <a:rPr lang="ru-RU" i="1">
                            <a:latin typeface="Cambria Math" panose="02040503050406030204" pitchFamily="18" charset="0"/>
                          </a:rPr>
                          <m:t>+</m:t>
                        </m:r>
                        <m:rad>
                          <m:radPr>
                            <m:degHide m:val="on"/>
                            <m:ctrlPr>
                              <a:rPr lang="en-US" i="1">
                                <a:latin typeface="Cambria Math" panose="02040503050406030204" pitchFamily="18" charset="0"/>
                              </a:rPr>
                            </m:ctrlPr>
                          </m:radPr>
                          <m:deg/>
                          <m:e>
                            <m:r>
                              <a:rPr lang="en-US" i="1">
                                <a:latin typeface="Cambria Math" panose="02040503050406030204" pitchFamily="18" charset="0"/>
                              </a:rPr>
                              <m:t>6,26</m:t>
                            </m:r>
                          </m:e>
                        </m:rad>
                      </m:den>
                    </m:f>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0,01</m:t>
                        </m:r>
                      </m:num>
                      <m:den>
                        <m:r>
                          <a:rPr lang="en-US" b="0" i="1" dirty="0" smtClean="0">
                            <a:latin typeface="Cambria Math" panose="02040503050406030204" pitchFamily="18" charset="0"/>
                          </a:rPr>
                          <m:t>2,504+2,502</m:t>
                        </m:r>
                      </m:den>
                    </m:f>
                    <m:r>
                      <a:rPr lang="en-US" b="0" i="1" dirty="0" smtClean="0">
                        <a:latin typeface="Cambria Math" panose="02040503050406030204" pitchFamily="18" charset="0"/>
                        <a:ea typeface="Cambria Math" panose="02040503050406030204" pitchFamily="18" charset="0"/>
                      </a:rPr>
                      <m:t>≈0,2 </m:t>
                    </m:r>
                    <m:sSup>
                      <m:sSupPr>
                        <m:ctrlPr>
                          <a:rPr lang="en-US" b="0" i="1" dirty="0" smtClean="0">
                            <a:latin typeface="Cambria Math" panose="02040503050406030204" pitchFamily="18" charset="0"/>
                            <a:ea typeface="Cambria Math" panose="02040503050406030204" pitchFamily="18" charset="0"/>
                          </a:rPr>
                        </m:ctrlPr>
                      </m:sSupPr>
                      <m:e>
                        <m:r>
                          <a:rPr lang="en-US" b="0" i="1" dirty="0" smtClean="0">
                            <a:latin typeface="Cambria Math" panose="02040503050406030204" pitchFamily="18" charset="0"/>
                            <a:ea typeface="Cambria Math" panose="02040503050406030204" pitchFamily="18" charset="0"/>
                          </a:rPr>
                          <m:t>10</m:t>
                        </m:r>
                      </m:e>
                      <m:sup>
                        <m:r>
                          <a:rPr lang="en-US" b="0" i="1" dirty="0" smtClean="0">
                            <a:latin typeface="Cambria Math" panose="02040503050406030204" pitchFamily="18" charset="0"/>
                            <a:ea typeface="Cambria Math" panose="02040503050406030204" pitchFamily="18" charset="0"/>
                          </a:rPr>
                          <m:t>−2</m:t>
                        </m:r>
                      </m:sup>
                    </m:sSup>
                  </m:oMath>
                </a14:m>
                <a:br>
                  <a:rPr lang="en-US" b="0" dirty="0">
                    <a:ea typeface="Cambria Math" panose="02040503050406030204" pitchFamily="18" charset="0"/>
                  </a:rPr>
                </a:br>
                <a:br>
                  <a:rPr lang="ru-RU" b="0" dirty="0">
                    <a:ea typeface="Cambria Math" panose="02040503050406030204" pitchFamily="18" charset="0"/>
                  </a:rPr>
                </a:br>
                <a:r>
                  <a:rPr lang="ru-RU" b="0" dirty="0">
                    <a:ea typeface="Cambria Math" panose="02040503050406030204" pitchFamily="18" charset="0"/>
                  </a:rPr>
                  <a:t>Но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rPr>
                          <m:t>𝑎</m:t>
                        </m:r>
                      </m:sub>
                    </m:sSub>
                  </m:oMath>
                </a14:m>
                <a:r>
                  <a:rPr lang="en-US" dirty="0"/>
                  <a:t>= </a:t>
                </a:r>
                <a14:m>
                  <m:oMath xmlns:m="http://schemas.openxmlformats.org/officeDocument/2006/math">
                    <m:r>
                      <a:rPr lang="en-US" i="1">
                        <a:latin typeface="Cambria Math" panose="02040503050406030204" pitchFamily="18" charset="0"/>
                        <a:ea typeface="Cambria Math" panose="02040503050406030204" pitchFamily="18" charset="0"/>
                      </a:rPr>
                      <m:t>𝛿</m:t>
                    </m:r>
                  </m:oMath>
                </a14:m>
                <a:r>
                  <a:rPr lang="ru-RU" dirty="0"/>
                  <a:t>(</a:t>
                </a:r>
                <a14:m>
                  <m:oMath xmlns:m="http://schemas.openxmlformats.org/officeDocument/2006/math">
                    <m:rad>
                      <m:radPr>
                        <m:degHide m:val="on"/>
                        <m:ctrlPr>
                          <a:rPr lang="en-US" sz="4000" i="1">
                            <a:latin typeface="Cambria Math" panose="02040503050406030204" pitchFamily="18" charset="0"/>
                          </a:rPr>
                        </m:ctrlPr>
                      </m:radPr>
                      <m:deg/>
                      <m:e>
                        <m:r>
                          <a:rPr lang="en-US" sz="4000" i="1">
                            <a:latin typeface="Cambria Math" panose="02040503050406030204" pitchFamily="18" charset="0"/>
                          </a:rPr>
                          <m:t>6,27</m:t>
                        </m:r>
                      </m:e>
                    </m:rad>
                    <m:r>
                      <a:rPr lang="ru-RU" sz="4000" i="1">
                        <a:latin typeface="Cambria Math" panose="02040503050406030204" pitchFamily="18" charset="0"/>
                      </a:rPr>
                      <m:t>+</m:t>
                    </m:r>
                    <m:rad>
                      <m:radPr>
                        <m:degHide m:val="on"/>
                        <m:ctrlPr>
                          <a:rPr lang="en-US" sz="4000" i="1">
                            <a:latin typeface="Cambria Math" panose="02040503050406030204" pitchFamily="18" charset="0"/>
                          </a:rPr>
                        </m:ctrlPr>
                      </m:radPr>
                      <m:deg/>
                      <m:e>
                        <m:r>
                          <a:rPr lang="en-US" sz="4000" i="1">
                            <a:latin typeface="Cambria Math" panose="02040503050406030204" pitchFamily="18" charset="0"/>
                          </a:rPr>
                          <m:t>6,26</m:t>
                        </m:r>
                      </m:e>
                    </m:rad>
                    <m:r>
                      <a:rPr lang="en-US" sz="4000" i="1">
                        <a:latin typeface="Cambria Math" panose="02040503050406030204" pitchFamily="18" charset="0"/>
                      </a:rPr>
                      <m:t> </m:t>
                    </m:r>
                  </m:oMath>
                </a14:m>
                <a:r>
                  <a:rPr lang="ru-RU" dirty="0"/>
                  <a:t>)=</a:t>
                </a:r>
                <a:r>
                  <a:rPr lang="en-US" dirty="0"/>
                  <a:t> </a:t>
                </a:r>
                <a14:m>
                  <m:oMath xmlns:m="http://schemas.openxmlformats.org/officeDocument/2006/math">
                    <m:f>
                      <m:fPr>
                        <m:ctrlPr>
                          <a:rPr lang="en-US" i="1" dirty="0">
                            <a:latin typeface="Cambria Math" panose="02040503050406030204" pitchFamily="18" charset="0"/>
                          </a:rPr>
                        </m:ctrlPr>
                      </m:fPr>
                      <m:num>
                        <m:r>
                          <a:rPr lang="en-US" i="1" dirty="0">
                            <a:latin typeface="Cambria Math" panose="02040503050406030204" pitchFamily="18" charset="0"/>
                          </a:rPr>
                          <m:t>0,0</m:t>
                        </m:r>
                        <m:r>
                          <a:rPr lang="ru-RU" b="0" i="1" dirty="0" smtClean="0">
                            <a:latin typeface="Cambria Math" panose="02040503050406030204" pitchFamily="18" charset="0"/>
                          </a:rPr>
                          <m:t>05+0,005</m:t>
                        </m:r>
                      </m:num>
                      <m:den>
                        <m:r>
                          <a:rPr lang="ru-RU" b="0" i="1" dirty="0" smtClean="0">
                            <a:latin typeface="Cambria Math" panose="02040503050406030204" pitchFamily="18" charset="0"/>
                          </a:rPr>
                          <m:t>5</m:t>
                        </m:r>
                      </m:den>
                    </m:f>
                  </m:oMath>
                </a14:m>
                <a:r>
                  <a:rPr lang="en-US" dirty="0"/>
                  <a:t>=</a:t>
                </a:r>
                <a:r>
                  <a:rPr lang="en-US" sz="3600" dirty="0"/>
                  <a:t>0,</a:t>
                </a:r>
                <a:r>
                  <a:rPr lang="ru-RU" sz="3600" dirty="0"/>
                  <a:t>0002</a:t>
                </a:r>
                <a:r>
                  <a:rPr lang="en-US" sz="3600" dirty="0"/>
                  <a:t>=</a:t>
                </a:r>
                <a:r>
                  <a:rPr lang="ru-RU" sz="3600" dirty="0"/>
                  <a:t>0,02</a:t>
                </a:r>
                <a:r>
                  <a:rPr lang="en-US" sz="3600" dirty="0"/>
                  <a:t>%</a:t>
                </a:r>
                <a:r>
                  <a:rPr lang="ru-RU" sz="3600" b="0" dirty="0">
                    <a:ea typeface="Cambria Math" panose="02040503050406030204" pitchFamily="18" charset="0"/>
                  </a:rPr>
                  <a:t> </a:t>
                </a:r>
                <a:br>
                  <a:rPr lang="ru-RU" dirty="0"/>
                </a:br>
                <a:r>
                  <a:rPr lang="ru-RU" dirty="0"/>
                  <a:t>Т.к. в числителе точное значение находим погрешность только знаменателя.</a:t>
                </a:r>
              </a:p>
            </p:txBody>
          </p:sp>
        </mc:Choice>
        <mc:Fallback xmlns="">
          <p:sp>
            <p:nvSpPr>
              <p:cNvPr id="2" name="Заголовок 1">
                <a:extLst>
                  <a:ext uri="{FF2B5EF4-FFF2-40B4-BE49-F238E27FC236}">
                    <a16:creationId xmlns:a16="http://schemas.microsoft.com/office/drawing/2014/main" id="{2B360A3F-7C34-D874-2E5C-F7DC05438557}"/>
                  </a:ext>
                </a:extLst>
              </p:cNvPr>
              <p:cNvSpPr>
                <a:spLocks noGrp="1" noRot="1" noChangeAspect="1" noMove="1" noResize="1" noEditPoints="1" noAdjustHandles="1" noChangeArrowheads="1" noChangeShapeType="1" noTextEdit="1"/>
              </p:cNvSpPr>
              <p:nvPr>
                <p:ph type="title"/>
              </p:nvPr>
            </p:nvSpPr>
            <p:spPr>
              <a:xfrm>
                <a:off x="233265" y="365125"/>
                <a:ext cx="12045821" cy="5839732"/>
              </a:xfrm>
              <a:blipFill>
                <a:blip r:embed="rId2"/>
                <a:stretch>
                  <a:fillRect l="-2024" b="-209"/>
                </a:stretch>
              </a:blipFill>
            </p:spPr>
            <p:txBody>
              <a:bodyPr/>
              <a:lstStyle/>
              <a:p>
                <a:r>
                  <a:rPr lang="ru-RU">
                    <a:noFill/>
                  </a:rPr>
                  <a:t> </a:t>
                </a:r>
              </a:p>
            </p:txBody>
          </p:sp>
        </mc:Fallback>
      </mc:AlternateContent>
    </p:spTree>
    <p:extLst>
      <p:ext uri="{BB962C8B-B14F-4D97-AF65-F5344CB8AC3E}">
        <p14:creationId xmlns:p14="http://schemas.microsoft.com/office/powerpoint/2010/main" val="2883141819"/>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273</TotalTime>
  <Words>946</Words>
  <Application>Microsoft Office PowerPoint</Application>
  <PresentationFormat>Широкоэкранный</PresentationFormat>
  <Paragraphs>18</Paragraphs>
  <Slides>16</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16</vt:i4>
      </vt:variant>
    </vt:vector>
  </HeadingPairs>
  <TitlesOfParts>
    <vt:vector size="21" baseType="lpstr">
      <vt:lpstr>Arial</vt:lpstr>
      <vt:lpstr>Calibri</vt:lpstr>
      <vt:lpstr>Calibri Light</vt:lpstr>
      <vt:lpstr>Cambria Math</vt:lpstr>
      <vt:lpstr>Тема Office</vt:lpstr>
      <vt:lpstr>Численные методы</vt:lpstr>
      <vt:lpstr>Литература  1. Бахвалов Н.В., Жидков Н.П., Кобельков Г.М. Численные методы 2. Петров И.Б., Лобанов А.И. Лекции по вычислительной математике 3. Рябенький В.С. Введение в вычислительную математику 4. Марчук Г.И Методы вычислительной математики 5. Самарский А.А., Гулин А.В. Численные методы 6. Березин И.С., Жидков Н.П. Методы вычислений  В 2-х томах 7. Калиткин Н.Н. Численные методы 8. Крылов В.И. , Бобков В.В., Монастырный П.И. Вычислительные методы В 2-х томах 9. Турчак Л.И. Основы численных методов </vt:lpstr>
      <vt:lpstr>Этапы решения задач на ЭВМ  1. Постановка задачи 2. Построение математической модели 3. Определение численного метода решения задачи 4. Разработка алгоритма 5. Программирование 6. Отладка программы 7. Проведение расчетов 8. Анализ результатов  </vt:lpstr>
      <vt:lpstr>Если упростить, этапы решения задач на ЭВМ можно свести к двум.  1. Математическое описание задачи 2. Решение этой задачи методами вычислительной математики  На каждом из этапов мы получает решение с некоторой точностью  </vt:lpstr>
      <vt:lpstr>На первом этапе погрешность складывается из 1. погрешность в описании процессов 2. неточность во входных данных  С точки зрения получаемых результатов – это НЕУСТРАНИМЫЕ погрешности.  </vt:lpstr>
      <vt:lpstr>На втором этапе погрешность складывается из 1. погрешность метода решения (погрешность аппроксимации) при замене исходной задачи её численным аналогом 2. вычислительная погрешность при округлении и выполнении арифметических операций   </vt:lpstr>
      <vt:lpstr>    Справочно    Правила округления Если значение разряда больше 5 предыдущий разряд усиливается, если меньше 5 остается без изменений. Если значение разряда равно 5 и после него есть ненулевые разряды – предыдущий разряд усиливается. Если значение разряда равно 5 и последующие разряды отсутствуют то, нечётный предыдущий разряд усиливается, а чётный – нет.    </vt:lpstr>
      <vt:lpstr>   Абсолютная погрешность  Пусть A – точное значение числа, a – его приближённое значение. Абсолютная погрешность ∆_a=|A-a| Таким образом  a- ∆_a ≤ A ≤ a+ ∆_a Можно записать              A= a± ∆_a   </vt:lpstr>
      <vt:lpstr>Относительная погрешность   δ_a=|(A-a)/a|, a≠0 ⇒δ_a=∆_a/|a|    и A=a(1±δ_a)  Относительную погрешность часто выражают в процентах </vt:lpstr>
      <vt:lpstr>    Справочно    Верные значащие цифры  Значащими цифрами числа называются все его цифры, кроме нулей, стоящих левее отличной от нуля цифры. НУЛИ СПРАВА – ЗНАЧАЩИЕ. Абсолютная погрешность – половина следующего разряда за последней значащей цифрой. Все вещественные числа в ЭВМ  представлены с некоторой точностью. Например, для 32 битного числа точность 6 10-8 (т.н. машинный ноль)   </vt:lpstr>
      <vt:lpstr>Погрешность арифметических вычислений   Сумма и разность Пусть A=∑_(i=1)^n▒A_i  - сумма точных значений  a=∑_(i=1)^n▒a_i    - сумма приближённых значений. Тогда A-a = (A1-a1)+(A2-a2)+…+(An-an) Переходя к модулям получим, что абсолютная погрешность суммы меньше или равна сумме абсолютных погрешностей. Аналогично для разности.      </vt:lpstr>
      <vt:lpstr>Погрешность произведения A=A1·A2 точные и a=a1·a2 приближенные значения и известны δ_a1и δ_a2 Выразим A1 и A2 как A1=a1+Δ1 и A2=a2+Δ2,  перемножим, найдем разность Ι A1A2-a1a2 Ι разделим на Ι a1a2 Ι и учтем, что Ι Δ1 Δ2 Ι мало Получим δ_a= δ_a1+ δ_a2 </vt:lpstr>
      <vt:lpstr>Пример нахождения погрешности приближенных вычислений. Обычно лишние значащие цифры не сохраняют. Берут число с наихудшей точностью, в остальных числах оставляют на знак больше. 0,1735+4,2+175,221. Наихудшая точность у 4,2, значит можно записать 0,17+4,2+175,22 = 179,59 Округляем до верной значащей цифры 179,6 Найдем погрешность. Погрешность округления |179,6-179,59|=0,01 Погрешность вычислений 0,005+0,05+0,005=0,06 Результирующая погрешность 0,01+0,06=0,07 Т о результат 179,6±0,07, допустимо округлять погрешность вверх до верной значащей цифры 179,6±0,1     </vt:lpstr>
      <vt:lpstr>Вычитание близких чисел. Потеря точности.  Пусть x&gt;0, y&gt;0, a=x-y  тогда δ_a=∆_a/|a| = (∆_x+∆_y)/|x-y|   Для близких чисел x и y относительная погрешность может быть очень большой. </vt:lpstr>
      <vt:lpstr>Погрешность зависит от метода вычислений. Пример. Найти  разность a=√6,27-√6,26 Найдем значения до 3 знаков после запятой √6,27=2,504               〖              ∆〗_(a_1 )=0,0005 √6,26=2,502                             ∆_(a_2 )=0,0005 a=2,504-2,502=0,2 10^(-2)       ∆_a=0,001                        δ_a=∆_a/|a| = 0,001/0,002=0,5=50% !!! </vt:lpstr>
      <vt:lpstr>Применим другую вычислительную схему a=√6,27-√6,26=((√6,27-√6,26)(√6,27+√6,26))/(√6,27+√6,26)=(6,27-6,26)/(√6,27+√6,26)=0,01/(2,504+2,502)≈0,2 10^(-2)  Но δ_a= δ(√6,27+√6,26  )= (0,005+0,005)/5=0,0002=0,02%  Т.к. в числителе точное значение находим погрешность только знаменателя.</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Методы вычислений</dc:title>
  <dc:creator>Leonid Zinin</dc:creator>
  <cp:lastModifiedBy>Леонид Зинин</cp:lastModifiedBy>
  <cp:revision>5</cp:revision>
  <dcterms:created xsi:type="dcterms:W3CDTF">2021-01-11T08:49:39Z</dcterms:created>
  <dcterms:modified xsi:type="dcterms:W3CDTF">2026-01-20T06:40:14Z</dcterms:modified>
</cp:coreProperties>
</file>